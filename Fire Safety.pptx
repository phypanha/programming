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8"/>
  </p:notes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6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D26"/>
    <a:srgbClr val="0B0244"/>
    <a:srgbClr val="000066"/>
    <a:srgbClr val="0F0359"/>
    <a:srgbClr val="E3D3D3"/>
    <a:srgbClr val="FFFFFF"/>
    <a:srgbClr val="FDF2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7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E052B-167D-4540-A394-8E8AEDC7157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437E5-BD01-4F7D-8A55-025956B67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7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437E5-BD01-4F7D-8A55-025956B670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77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437E5-BD01-4F7D-8A55-025956B670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32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437E5-BD01-4F7D-8A55-025956B670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01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437E5-BD01-4F7D-8A55-025956B670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99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437E5-BD01-4F7D-8A55-025956B670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83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437E5-BD01-4F7D-8A55-025956B670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64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437E5-BD01-4F7D-8A55-025956B670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42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437E5-BD01-4F7D-8A55-025956B670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31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437E5-BD01-4F7D-8A55-025956B670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93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7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6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7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6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1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7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2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8115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7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22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34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07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4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863D2-9EB9-4127-BC0E-57D8AB6DDAB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BA600-7806-46FE-AB5E-BC8120ED4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57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A6202F-A6E1-4EEA-A18F-22E16C954160}"/>
              </a:ext>
            </a:extLst>
          </p:cNvPr>
          <p:cNvSpPr/>
          <p:nvPr/>
        </p:nvSpPr>
        <p:spPr>
          <a:xfrm>
            <a:off x="723121" y="2878494"/>
            <a:ext cx="7697755" cy="11010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m-KH" sz="4000" dirty="0">
                <a:solidFill>
                  <a:srgbClr val="92D05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វិធីបង្ការ ​និងពន្លត់អគ្គីភ័យ</a:t>
            </a:r>
            <a:endParaRPr lang="en-US" sz="4000" dirty="0">
              <a:solidFill>
                <a:srgbClr val="92D05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2D1712-C0D9-4F41-BAB0-536AB1FEF44B}"/>
              </a:ext>
            </a:extLst>
          </p:cNvPr>
          <p:cNvSpPr/>
          <p:nvPr/>
        </p:nvSpPr>
        <p:spPr>
          <a:xfrm>
            <a:off x="2248678" y="877078"/>
            <a:ext cx="6251510" cy="1035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km-KH" sz="2400" dirty="0">
                <a:solidFill>
                  <a:srgbClr val="FFC00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វិទ្យាស្ថានពហុបច្ចេកទេសខេត្តកំពង់ឆ្នាំង</a:t>
            </a:r>
            <a:endParaRPr lang="en-US" sz="2400" dirty="0">
              <a:solidFill>
                <a:srgbClr val="FFC00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92FFB6-5CE6-4F1E-8C2C-E527DDADB722}"/>
              </a:ext>
            </a:extLst>
          </p:cNvPr>
          <p:cNvSpPr/>
          <p:nvPr/>
        </p:nvSpPr>
        <p:spPr>
          <a:xfrm>
            <a:off x="3116424" y="5887616"/>
            <a:ext cx="2911151" cy="569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m-KH" dirty="0">
                <a:solidFill>
                  <a:srgbClr val="FFFF0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ខែសីហា ឆ្នាំ២០២៦</a:t>
            </a:r>
            <a:endParaRPr lang="en-US" dirty="0">
              <a:solidFill>
                <a:srgbClr val="FFFF00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A9DFEA-2CB8-41E5-AC80-CFAA45C41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51" y="485192"/>
            <a:ext cx="1623527" cy="162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9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dirty="0">
                <a:solidFill>
                  <a:srgbClr val="FFC00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គោលបំណង</a:t>
            </a:r>
            <a:endParaRPr lang="en-US" sz="2400" dirty="0">
              <a:solidFill>
                <a:srgbClr val="FFC00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7E1280-17C7-4011-8E03-44F3BCA2BE41}"/>
              </a:ext>
            </a:extLst>
          </p:cNvPr>
          <p:cNvSpPr/>
          <p:nvPr/>
        </p:nvSpPr>
        <p:spPr>
          <a:xfrm>
            <a:off x="381000" y="1074420"/>
            <a:ext cx="4716780" cy="4312920"/>
          </a:xfrm>
          <a:prstGeom prst="roundRect">
            <a:avLst>
              <a:gd name="adj" fmla="val 2326"/>
            </a:avLst>
          </a:prstGeom>
          <a:solidFill>
            <a:srgbClr val="0A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សិក្សានិងស្វែងយល់ពីគ្រោះថ្នាក់នៃអគ្គីភ័យ មូលហេតុដែលបង្កឱ្យមានភ្លើងឆេះ ការអនុវត្តវិធានការបង្ការទុកជាមុន និងការប្រើប្រាស់ឧបករណ៍ពន្លត់អគ្គីភ័យឱ្យបានត្រឹមត្រូវ ដើម្បីការពារអាយុជីវិត និងទ្រព្យសម្បត្តិ។</a:t>
            </a:r>
            <a:endParaRPr lang="en-US" sz="20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0A1A84-EAC2-4365-93C1-B2EDD69FF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155" y="323986"/>
            <a:ext cx="2443785" cy="495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0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dirty="0">
                <a:solidFill>
                  <a:srgbClr val="FFC00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ត្រីកោណអគ្គីភ័យ</a:t>
            </a:r>
            <a:endParaRPr lang="en-US" sz="2400" dirty="0">
              <a:solidFill>
                <a:srgbClr val="FFC00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7E1280-17C7-4011-8E03-44F3BCA2BE41}"/>
              </a:ext>
            </a:extLst>
          </p:cNvPr>
          <p:cNvSpPr/>
          <p:nvPr/>
        </p:nvSpPr>
        <p:spPr>
          <a:xfrm>
            <a:off x="381000" y="1074420"/>
            <a:ext cx="8260080" cy="914400"/>
          </a:xfrm>
          <a:prstGeom prst="roundRect">
            <a:avLst>
              <a:gd name="adj" fmla="val 5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m-KH" sz="20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អគ្គីភ័យកើតឡើងបាន លុះត្រាតែមានការបញ្ចូលគ្នានៃធាតុទាំង៣ ដូចខាងក្រោម៖</a:t>
            </a:r>
            <a:endParaRPr lang="en-US" sz="20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BCED22-E90C-4811-AD5B-82C886BE2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338" y="1815582"/>
            <a:ext cx="2354580" cy="2354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963394-3EB5-485B-AE08-D2CA18CD0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960" y="2068472"/>
            <a:ext cx="2970275" cy="1856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BF2344-4F64-4F04-B770-F580ECD860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03" b="10517"/>
          <a:stretch/>
        </p:blipFill>
        <p:spPr>
          <a:xfrm>
            <a:off x="624839" y="2078472"/>
            <a:ext cx="2330523" cy="18288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3BEB47-68D0-47A5-9D8F-AC3387A3011F}"/>
              </a:ext>
            </a:extLst>
          </p:cNvPr>
          <p:cNvSpPr/>
          <p:nvPr/>
        </p:nvSpPr>
        <p:spPr>
          <a:xfrm>
            <a:off x="441958" y="4076700"/>
            <a:ext cx="2628901" cy="1516380"/>
          </a:xfrm>
          <a:prstGeom prst="roundRect">
            <a:avLst>
              <a:gd name="adj" fmla="val 3099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m-KH" b="1" dirty="0">
                <a:solidFill>
                  <a:srgbClr val="00B0F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អុកស៊ីសែន</a:t>
            </a:r>
          </a:p>
          <a:p>
            <a:pPr algn="ctr"/>
            <a:endParaRPr lang="km-KH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algn="ctr"/>
            <a:r>
              <a:rPr lang="km-KH" sz="14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ខ្យល់ដង្ហើមដែលជួយទ្រទ្រង់ចំហេះ</a:t>
            </a:r>
            <a:endParaRPr lang="en-US" sz="14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41EEBF7-CE09-42F1-9639-3D207B7C123F}"/>
              </a:ext>
            </a:extLst>
          </p:cNvPr>
          <p:cNvSpPr/>
          <p:nvPr/>
        </p:nvSpPr>
        <p:spPr>
          <a:xfrm>
            <a:off x="3295648" y="4076700"/>
            <a:ext cx="2628901" cy="1516380"/>
          </a:xfrm>
          <a:prstGeom prst="roundRect">
            <a:avLst>
              <a:gd name="adj" fmla="val 309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m-KH" dirty="0">
                <a:solidFill>
                  <a:srgbClr val="FF000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កម្តៅ</a:t>
            </a:r>
          </a:p>
          <a:p>
            <a:pPr algn="ctr"/>
            <a:endParaRPr lang="km-KH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km-KH" sz="14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ផ្កាភ្លើង សីតុណ្ហភាពខ្ពស់ ឬការកកិតដែលបង្កើតកម្តៅ</a:t>
            </a:r>
            <a:endParaRPr lang="en-US" sz="14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86DE8B-D751-4EA1-93E3-59AC85CEFCC3}"/>
              </a:ext>
            </a:extLst>
          </p:cNvPr>
          <p:cNvSpPr/>
          <p:nvPr/>
        </p:nvSpPr>
        <p:spPr>
          <a:xfrm>
            <a:off x="6149338" y="4076700"/>
            <a:ext cx="2628901" cy="1516380"/>
          </a:xfrm>
          <a:prstGeom prst="roundRect">
            <a:avLst>
              <a:gd name="adj" fmla="val 3099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m-KH" dirty="0">
                <a:solidFill>
                  <a:srgbClr val="FFFF0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ឥន្ធនៈ</a:t>
            </a:r>
          </a:p>
          <a:p>
            <a:pPr algn="ctr"/>
            <a:endParaRPr lang="km-KH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km-KH" sz="14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វត្ថុងាយឆេះដូចជា ឈើ ក្រដាស សាំង ឬឧស្ម័ន</a:t>
            </a:r>
          </a:p>
        </p:txBody>
      </p:sp>
    </p:spTree>
    <p:extLst>
      <p:ext uri="{BB962C8B-B14F-4D97-AF65-F5344CB8AC3E}">
        <p14:creationId xmlns:p14="http://schemas.microsoft.com/office/powerpoint/2010/main" val="177193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dirty="0">
                <a:solidFill>
                  <a:srgbClr val="FFC00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មូលហេតុចម្បងនៃអគ្គីភ័យ</a:t>
            </a:r>
            <a:endParaRPr lang="en-US" sz="2400" dirty="0">
              <a:solidFill>
                <a:srgbClr val="FFC00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41EEBF7-CE09-42F1-9639-3D207B7C123F}"/>
              </a:ext>
            </a:extLst>
          </p:cNvPr>
          <p:cNvSpPr/>
          <p:nvPr/>
        </p:nvSpPr>
        <p:spPr>
          <a:xfrm>
            <a:off x="441958" y="1501140"/>
            <a:ext cx="3657600" cy="3657600"/>
          </a:xfrm>
          <a:prstGeom prst="roundRect">
            <a:avLst>
              <a:gd name="adj" fmla="val 3099"/>
            </a:avLst>
          </a:prstGeom>
          <a:solidFill>
            <a:schemeClr val="bg1">
              <a:lumMod val="85000"/>
              <a:lumOff val="1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m-KH" b="1" dirty="0">
              <a:solidFill>
                <a:srgbClr val="00B0F0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r>
              <a:rPr lang="km-KH" b="1" dirty="0">
                <a:solidFill>
                  <a:srgbClr val="00B0F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១. បញ្ហាអគ្គិសនី</a:t>
            </a:r>
          </a:p>
          <a:p>
            <a:pPr algn="ctr"/>
            <a:endParaRPr lang="km-KH" dirty="0">
              <a:solidFill>
                <a:srgbClr val="7030A0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km-KH" sz="1800" b="0" i="0" u="none" strike="noStrike" dirty="0">
                <a:solidFill>
                  <a:schemeClr val="tx1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ភាគច្រើននៃការឆេះកើតឡើងដោយសារ ការទុស្សេខ្សែភ្លើងចាស់ៗ ការប្រើប្រាស់ព្រីភ្លើងតជាន់គ្នាលើសកម្រិតបន្ទុក និងការមិនបានពិនិត្យប្រព័ន្ធភ្លើងឱ្យបានត្រឹមត្រូវពីអ្នកបច្ចេកទេស។</a:t>
            </a:r>
            <a:endParaRPr lang="en-US" sz="1400" dirty="0">
              <a:solidFill>
                <a:schemeClr val="tx1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86DE8B-D751-4EA1-93E3-59AC85CEFCC3}"/>
              </a:ext>
            </a:extLst>
          </p:cNvPr>
          <p:cNvSpPr/>
          <p:nvPr/>
        </p:nvSpPr>
        <p:spPr>
          <a:xfrm>
            <a:off x="4922517" y="1508760"/>
            <a:ext cx="3657600" cy="3657600"/>
          </a:xfrm>
          <a:prstGeom prst="roundRect">
            <a:avLst>
              <a:gd name="adj" fmla="val 3099"/>
            </a:avLst>
          </a:prstGeom>
          <a:solidFill>
            <a:schemeClr val="bg1">
              <a:lumMod val="85000"/>
              <a:lumOff val="1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m-KH" dirty="0">
              <a:solidFill>
                <a:srgbClr val="FFFF00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marL="114300" algn="just"/>
            <a:r>
              <a:rPr lang="km-KH" b="1" dirty="0">
                <a:solidFill>
                  <a:srgbClr val="FFFF0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២. ការធ្វេសប្រហែស</a:t>
            </a:r>
          </a:p>
          <a:p>
            <a:pPr algn="ctr"/>
            <a:endParaRPr lang="km-KH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marL="1143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m-KH" sz="18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ការភ្លេចបិទចង្ក្រានហ្គាសពេលកំពុងចម្អិន ការទុកចោលភ្លើងធូបទៀនដែលកំពុងឆេះ និងការបោះចោលកន្ទុយបារីដែលមិនទាន់រលត់ចូលទីតាំងដែលមានវត្ថុងាយឆេះ។</a:t>
            </a:r>
            <a:endParaRPr lang="km-KH" sz="1400" b="0" dirty="0">
              <a:effectLst/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63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b="1" i="0" u="none" strike="noStrike" dirty="0">
                <a:solidFill>
                  <a:srgbClr val="FFC00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ចំណាត់ថ្នាក់នៃអគ្គីភ័យ (</a:t>
            </a:r>
            <a:r>
              <a:rPr lang="en-US" sz="2400" b="1" i="0" u="none" strike="noStrike" dirty="0">
                <a:solidFill>
                  <a:srgbClr val="FFC00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Fire Classes)</a:t>
            </a:r>
            <a:endParaRPr lang="en-US" sz="2400" dirty="0">
              <a:solidFill>
                <a:srgbClr val="FFC00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267EB3-2013-4AAC-9757-B32329935B56}"/>
              </a:ext>
            </a:extLst>
          </p:cNvPr>
          <p:cNvGrpSpPr/>
          <p:nvPr/>
        </p:nvGrpSpPr>
        <p:grpSpPr>
          <a:xfrm>
            <a:off x="381000" y="1074420"/>
            <a:ext cx="8138160" cy="815340"/>
            <a:chOff x="502920" y="1074420"/>
            <a:chExt cx="8138160" cy="81534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E843F74-34D0-4BDF-AE85-719445327E6E}"/>
                </a:ext>
              </a:extLst>
            </p:cNvPr>
            <p:cNvSpPr/>
            <p:nvPr/>
          </p:nvSpPr>
          <p:spPr>
            <a:xfrm>
              <a:off x="502920" y="1074420"/>
              <a:ext cx="8138160" cy="815340"/>
            </a:xfrm>
            <a:prstGeom prst="roundRect">
              <a:avLst>
                <a:gd name="adj" fmla="val 4517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i="0" u="none" strike="noStrike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sz="1800" b="1" i="0" u="none" strike="noStrike" dirty="0">
                  <a:solidFill>
                    <a:srgbClr val="FFC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A</a:t>
              </a:r>
              <a:r>
                <a:rPr lang="en-US" sz="1800" b="1" i="0" u="none" strike="noStrike" dirty="0">
                  <a:solidFill>
                    <a:srgbClr val="F9FAFB"/>
                  </a:solidFill>
                  <a:effectLst/>
                  <a:latin typeface="Battambang" panose="020B0606030804020204" pitchFamily="34" charset="0"/>
                </a:rPr>
                <a:t> </a:t>
              </a:r>
              <a:r>
                <a:rPr lang="en-US" sz="14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(</a:t>
              </a:r>
              <a:r>
                <a:rPr lang="km-KH" sz="14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វត្ថុរឹង) </a:t>
              </a:r>
              <a:r>
                <a:rPr lang="km-KH" sz="14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អគ្គីភ័យបង្កឡើងដោយវត្ថុរឹងងាយឆេះ ដូចជា ឈើ ក្រដាស ក្រណាត់ កៅស៊ូ និងប្លាស្ទិក។</a:t>
              </a:r>
              <a:endParaRPr lang="en-US" sz="1400" dirty="0"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A80FC71-2A1C-46CB-9458-C613F35135CF}"/>
                </a:ext>
              </a:extLst>
            </p:cNvPr>
            <p:cNvSpPr/>
            <p:nvPr/>
          </p:nvSpPr>
          <p:spPr>
            <a:xfrm>
              <a:off x="502920" y="1074420"/>
              <a:ext cx="38100" cy="815340"/>
            </a:xfrm>
            <a:custGeom>
              <a:avLst/>
              <a:gdLst>
                <a:gd name="connsiteX0" fmla="*/ 36829 w 38100"/>
                <a:gd name="connsiteY0" fmla="*/ 0 h 815340"/>
                <a:gd name="connsiteX1" fmla="*/ 38100 w 38100"/>
                <a:gd name="connsiteY1" fmla="*/ 0 h 815340"/>
                <a:gd name="connsiteX2" fmla="*/ 38100 w 38100"/>
                <a:gd name="connsiteY2" fmla="*/ 815340 h 815340"/>
                <a:gd name="connsiteX3" fmla="*/ 36829 w 38100"/>
                <a:gd name="connsiteY3" fmla="*/ 815340 h 815340"/>
                <a:gd name="connsiteX4" fmla="*/ 0 w 38100"/>
                <a:gd name="connsiteY4" fmla="*/ 778511 h 815340"/>
                <a:gd name="connsiteX5" fmla="*/ 0 w 38100"/>
                <a:gd name="connsiteY5" fmla="*/ 36829 h 815340"/>
                <a:gd name="connsiteX6" fmla="*/ 36829 w 38100"/>
                <a:gd name="connsiteY6" fmla="*/ 0 h 8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815340">
                  <a:moveTo>
                    <a:pt x="36829" y="0"/>
                  </a:moveTo>
                  <a:lnTo>
                    <a:pt x="38100" y="0"/>
                  </a:lnTo>
                  <a:lnTo>
                    <a:pt x="38100" y="815340"/>
                  </a:lnTo>
                  <a:lnTo>
                    <a:pt x="36829" y="815340"/>
                  </a:lnTo>
                  <a:cubicBezTo>
                    <a:pt x="16489" y="815340"/>
                    <a:pt x="0" y="798851"/>
                    <a:pt x="0" y="778511"/>
                  </a:cubicBezTo>
                  <a:lnTo>
                    <a:pt x="0" y="36829"/>
                  </a:lnTo>
                  <a:cubicBezTo>
                    <a:pt x="0" y="16489"/>
                    <a:pt x="16489" y="0"/>
                    <a:pt x="3682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E14EC-764B-4F30-8957-EBE42AD4606F}"/>
              </a:ext>
            </a:extLst>
          </p:cNvPr>
          <p:cNvGrpSpPr/>
          <p:nvPr/>
        </p:nvGrpSpPr>
        <p:grpSpPr>
          <a:xfrm>
            <a:off x="381000" y="2268220"/>
            <a:ext cx="8138160" cy="815340"/>
            <a:chOff x="502920" y="1074420"/>
            <a:chExt cx="8138160" cy="81534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07588DC-1B9F-46B5-B58F-ED30BEE850F0}"/>
                </a:ext>
              </a:extLst>
            </p:cNvPr>
            <p:cNvSpPr/>
            <p:nvPr/>
          </p:nvSpPr>
          <p:spPr>
            <a:xfrm>
              <a:off x="502920" y="1074420"/>
              <a:ext cx="8138160" cy="815340"/>
            </a:xfrm>
            <a:prstGeom prst="roundRect">
              <a:avLst>
                <a:gd name="adj" fmla="val 4517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800" b="1" i="0" u="none" strike="noStrike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sz="1800" b="1" i="0" u="none" strike="noStrike" dirty="0">
                  <a:solidFill>
                    <a:srgbClr val="FFC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B</a:t>
              </a:r>
              <a:r>
                <a:rPr lang="en-US" sz="1800" b="1" i="0" u="none" strike="noStrike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(</a:t>
              </a:r>
              <a:r>
                <a:rPr lang="km-KH" sz="14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វត្ថុរាវ)</a:t>
              </a:r>
              <a:r>
                <a:rPr lang="km-KH" sz="1400" b="0" i="0" u="none" strike="noStrike" dirty="0">
                  <a:solidFill>
                    <a:schemeClr val="tx1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 អគ្គីភ័យបង្កឡើងដោយវត្ថុរាវងាយឆេះ ដូចជា សាំង ប្រេងកាត ថ្នាំលាប និងអាល់កុល។</a:t>
              </a:r>
              <a:endParaRPr lang="en-US" sz="1400" b="1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9DCAA1-4222-43C6-B60F-43F2864093AF}"/>
                </a:ext>
              </a:extLst>
            </p:cNvPr>
            <p:cNvSpPr/>
            <p:nvPr/>
          </p:nvSpPr>
          <p:spPr>
            <a:xfrm>
              <a:off x="502920" y="1074420"/>
              <a:ext cx="38100" cy="815340"/>
            </a:xfrm>
            <a:custGeom>
              <a:avLst/>
              <a:gdLst>
                <a:gd name="connsiteX0" fmla="*/ 36829 w 38100"/>
                <a:gd name="connsiteY0" fmla="*/ 0 h 815340"/>
                <a:gd name="connsiteX1" fmla="*/ 38100 w 38100"/>
                <a:gd name="connsiteY1" fmla="*/ 0 h 815340"/>
                <a:gd name="connsiteX2" fmla="*/ 38100 w 38100"/>
                <a:gd name="connsiteY2" fmla="*/ 815340 h 815340"/>
                <a:gd name="connsiteX3" fmla="*/ 36829 w 38100"/>
                <a:gd name="connsiteY3" fmla="*/ 815340 h 815340"/>
                <a:gd name="connsiteX4" fmla="*/ 0 w 38100"/>
                <a:gd name="connsiteY4" fmla="*/ 778511 h 815340"/>
                <a:gd name="connsiteX5" fmla="*/ 0 w 38100"/>
                <a:gd name="connsiteY5" fmla="*/ 36829 h 815340"/>
                <a:gd name="connsiteX6" fmla="*/ 36829 w 38100"/>
                <a:gd name="connsiteY6" fmla="*/ 0 h 8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815340">
                  <a:moveTo>
                    <a:pt x="36829" y="0"/>
                  </a:moveTo>
                  <a:lnTo>
                    <a:pt x="38100" y="0"/>
                  </a:lnTo>
                  <a:lnTo>
                    <a:pt x="38100" y="815340"/>
                  </a:lnTo>
                  <a:lnTo>
                    <a:pt x="36829" y="815340"/>
                  </a:lnTo>
                  <a:cubicBezTo>
                    <a:pt x="16489" y="815340"/>
                    <a:pt x="0" y="798851"/>
                    <a:pt x="0" y="778511"/>
                  </a:cubicBezTo>
                  <a:lnTo>
                    <a:pt x="0" y="36829"/>
                  </a:lnTo>
                  <a:cubicBezTo>
                    <a:pt x="0" y="16489"/>
                    <a:pt x="16489" y="0"/>
                    <a:pt x="3682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983D10-5494-4062-8F1C-38D78B6D6015}"/>
              </a:ext>
            </a:extLst>
          </p:cNvPr>
          <p:cNvGrpSpPr/>
          <p:nvPr/>
        </p:nvGrpSpPr>
        <p:grpSpPr>
          <a:xfrm>
            <a:off x="381000" y="3462020"/>
            <a:ext cx="8138160" cy="815340"/>
            <a:chOff x="502920" y="1074420"/>
            <a:chExt cx="8138160" cy="81534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7B01091-0F3C-49DF-912E-9444FAFF7787}"/>
                </a:ext>
              </a:extLst>
            </p:cNvPr>
            <p:cNvSpPr/>
            <p:nvPr/>
          </p:nvSpPr>
          <p:spPr>
            <a:xfrm>
              <a:off x="502920" y="1074420"/>
              <a:ext cx="8138160" cy="815340"/>
            </a:xfrm>
            <a:prstGeom prst="roundRect">
              <a:avLst>
                <a:gd name="adj" fmla="val 4517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800" b="1" i="0" u="none" strike="noStrike" dirty="0">
                  <a:solidFill>
                    <a:srgbClr val="F9FAFB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sz="1800" b="1" i="0" u="none" strike="noStrike" dirty="0">
                  <a:solidFill>
                    <a:srgbClr val="FFC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C</a:t>
              </a:r>
              <a:r>
                <a:rPr lang="en-US" sz="1800" b="1" i="0" u="none" strike="noStrike" dirty="0">
                  <a:solidFill>
                    <a:srgbClr val="F9FAFB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(</a:t>
              </a:r>
              <a:r>
                <a:rPr lang="km-KH" sz="14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ឧស្ម័ន)</a:t>
              </a:r>
              <a:r>
                <a:rPr lang="km-KH" sz="1400" b="0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 </a:t>
              </a:r>
              <a:r>
                <a:rPr lang="km-KH" sz="14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អគ្គីភ័យបង្កឡើងដោយឧស្ម័នងាយឆេះ ដូចជា ហ្គាសចម្អិនអាហារ (</a:t>
              </a:r>
              <a:r>
                <a:rPr lang="en-US" sz="1800" b="0" i="0" u="none" strike="noStrike" dirty="0">
                  <a:solidFill>
                    <a:srgbClr val="D1D5DB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LPG</a:t>
              </a:r>
              <a:r>
                <a:rPr lang="en-US" sz="14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) </a:t>
              </a:r>
              <a:r>
                <a:rPr lang="km-KH" sz="14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ឬមេតាន។</a:t>
              </a:r>
              <a:endParaRPr lang="en-US" sz="1400" dirty="0"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0A0313E-3AFB-4B60-ADC8-67CAFF4FE855}"/>
                </a:ext>
              </a:extLst>
            </p:cNvPr>
            <p:cNvSpPr/>
            <p:nvPr/>
          </p:nvSpPr>
          <p:spPr>
            <a:xfrm>
              <a:off x="502920" y="1074420"/>
              <a:ext cx="38100" cy="815340"/>
            </a:xfrm>
            <a:custGeom>
              <a:avLst/>
              <a:gdLst>
                <a:gd name="connsiteX0" fmla="*/ 36829 w 38100"/>
                <a:gd name="connsiteY0" fmla="*/ 0 h 815340"/>
                <a:gd name="connsiteX1" fmla="*/ 38100 w 38100"/>
                <a:gd name="connsiteY1" fmla="*/ 0 h 815340"/>
                <a:gd name="connsiteX2" fmla="*/ 38100 w 38100"/>
                <a:gd name="connsiteY2" fmla="*/ 815340 h 815340"/>
                <a:gd name="connsiteX3" fmla="*/ 36829 w 38100"/>
                <a:gd name="connsiteY3" fmla="*/ 815340 h 815340"/>
                <a:gd name="connsiteX4" fmla="*/ 0 w 38100"/>
                <a:gd name="connsiteY4" fmla="*/ 778511 h 815340"/>
                <a:gd name="connsiteX5" fmla="*/ 0 w 38100"/>
                <a:gd name="connsiteY5" fmla="*/ 36829 h 815340"/>
                <a:gd name="connsiteX6" fmla="*/ 36829 w 38100"/>
                <a:gd name="connsiteY6" fmla="*/ 0 h 8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815340">
                  <a:moveTo>
                    <a:pt x="36829" y="0"/>
                  </a:moveTo>
                  <a:lnTo>
                    <a:pt x="38100" y="0"/>
                  </a:lnTo>
                  <a:lnTo>
                    <a:pt x="38100" y="815340"/>
                  </a:lnTo>
                  <a:lnTo>
                    <a:pt x="36829" y="815340"/>
                  </a:lnTo>
                  <a:cubicBezTo>
                    <a:pt x="16489" y="815340"/>
                    <a:pt x="0" y="798851"/>
                    <a:pt x="0" y="778511"/>
                  </a:cubicBezTo>
                  <a:lnTo>
                    <a:pt x="0" y="36829"/>
                  </a:lnTo>
                  <a:cubicBezTo>
                    <a:pt x="0" y="16489"/>
                    <a:pt x="16489" y="0"/>
                    <a:pt x="3682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27C9A0-7583-4D17-B06A-35E6BCC74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323975"/>
            <a:ext cx="3810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7FCC05C-893B-47C1-BF4D-3A468B6ABBAA}"/>
              </a:ext>
            </a:extLst>
          </p:cNvPr>
          <p:cNvGrpSpPr/>
          <p:nvPr/>
        </p:nvGrpSpPr>
        <p:grpSpPr>
          <a:xfrm>
            <a:off x="381000" y="4655820"/>
            <a:ext cx="8138160" cy="815340"/>
            <a:chOff x="502920" y="1074420"/>
            <a:chExt cx="8138160" cy="81534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FD5548C-E4D7-43EA-9087-C108835F1B24}"/>
                </a:ext>
              </a:extLst>
            </p:cNvPr>
            <p:cNvSpPr/>
            <p:nvPr/>
          </p:nvSpPr>
          <p:spPr>
            <a:xfrm>
              <a:off x="502920" y="1074420"/>
              <a:ext cx="8138160" cy="815340"/>
            </a:xfrm>
            <a:prstGeom prst="roundRect">
              <a:avLst>
                <a:gd name="adj" fmla="val 4517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800" b="1" i="0" u="none" strike="noStrike" dirty="0">
                  <a:solidFill>
                    <a:srgbClr val="F9FAFB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sz="1800" b="1" i="0" u="none" strike="noStrike" dirty="0">
                  <a:solidFill>
                    <a:srgbClr val="FFC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E</a:t>
              </a:r>
              <a:r>
                <a:rPr lang="en-US" sz="1800" b="1" i="0" u="none" strike="noStrike" dirty="0">
                  <a:solidFill>
                    <a:srgbClr val="F9FAFB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(</a:t>
              </a:r>
              <a:r>
                <a:rPr lang="km-KH" sz="14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អគ្គិសនី)</a:t>
              </a:r>
              <a:r>
                <a:rPr lang="km-KH" sz="1400" b="0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 </a:t>
              </a:r>
              <a:r>
                <a:rPr lang="km-KH" sz="14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អគ្គីភ័យដែលជាប់ពាក់ព័ន្ធនឹងឧបករណ៍អគ្គិសនីដែលកំពុងមានចរន្តភ្លើងឆ្លងកាត់។</a:t>
              </a:r>
              <a:endParaRPr lang="en-US" sz="1400" dirty="0"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16714CC-2AC9-4FD9-B53C-0EBD8B82DC45}"/>
                </a:ext>
              </a:extLst>
            </p:cNvPr>
            <p:cNvSpPr/>
            <p:nvPr/>
          </p:nvSpPr>
          <p:spPr>
            <a:xfrm>
              <a:off x="502920" y="1074420"/>
              <a:ext cx="38100" cy="815340"/>
            </a:xfrm>
            <a:custGeom>
              <a:avLst/>
              <a:gdLst>
                <a:gd name="connsiteX0" fmla="*/ 36829 w 38100"/>
                <a:gd name="connsiteY0" fmla="*/ 0 h 815340"/>
                <a:gd name="connsiteX1" fmla="*/ 38100 w 38100"/>
                <a:gd name="connsiteY1" fmla="*/ 0 h 815340"/>
                <a:gd name="connsiteX2" fmla="*/ 38100 w 38100"/>
                <a:gd name="connsiteY2" fmla="*/ 815340 h 815340"/>
                <a:gd name="connsiteX3" fmla="*/ 36829 w 38100"/>
                <a:gd name="connsiteY3" fmla="*/ 815340 h 815340"/>
                <a:gd name="connsiteX4" fmla="*/ 0 w 38100"/>
                <a:gd name="connsiteY4" fmla="*/ 778511 h 815340"/>
                <a:gd name="connsiteX5" fmla="*/ 0 w 38100"/>
                <a:gd name="connsiteY5" fmla="*/ 36829 h 815340"/>
                <a:gd name="connsiteX6" fmla="*/ 36829 w 38100"/>
                <a:gd name="connsiteY6" fmla="*/ 0 h 8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815340">
                  <a:moveTo>
                    <a:pt x="36829" y="0"/>
                  </a:moveTo>
                  <a:lnTo>
                    <a:pt x="38100" y="0"/>
                  </a:lnTo>
                  <a:lnTo>
                    <a:pt x="38100" y="815340"/>
                  </a:lnTo>
                  <a:lnTo>
                    <a:pt x="36829" y="815340"/>
                  </a:lnTo>
                  <a:cubicBezTo>
                    <a:pt x="16489" y="815340"/>
                    <a:pt x="0" y="798851"/>
                    <a:pt x="0" y="778511"/>
                  </a:cubicBezTo>
                  <a:lnTo>
                    <a:pt x="0" y="36829"/>
                  </a:lnTo>
                  <a:cubicBezTo>
                    <a:pt x="0" y="16489"/>
                    <a:pt x="16489" y="0"/>
                    <a:pt x="3682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B7C2D65C-A4CE-4168-BB4A-157331BBA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513965"/>
            <a:ext cx="2286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24FB84C-F574-4F55-81E2-C4AE1492E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707765"/>
            <a:ext cx="3810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CDF9D6B-B436-4E7D-BDCD-AA12711EE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4901565"/>
            <a:ext cx="2286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65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i="0" u="none" strike="noStrike" dirty="0">
                <a:solidFill>
                  <a:srgbClr val="00B0F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ការបង្ការអគ្គីភ័យនៅតាមផ្ទះ</a:t>
            </a:r>
            <a:endParaRPr lang="en-US" sz="2400" dirty="0">
              <a:solidFill>
                <a:srgbClr val="00B0F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763498-82BB-4CB5-980E-5C0701699473}"/>
              </a:ext>
            </a:extLst>
          </p:cNvPr>
          <p:cNvSpPr/>
          <p:nvPr/>
        </p:nvSpPr>
        <p:spPr>
          <a:xfrm>
            <a:off x="298580" y="1166327"/>
            <a:ext cx="8668138" cy="5318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ផ្តាច់ចរន្តអគ្គិសនី និងដកព្រីចេញពីឧបករណ៍ប្រើប្រាស់ នៅពេលអ្នកឈប់ប្រើ ឬមុនពេលចេញក្រៅ។</a:t>
            </a:r>
            <a:endParaRPr lang="en-US" b="0" i="0" u="none" strike="noStrike" dirty="0">
              <a:solidFill>
                <a:srgbClr val="D1D5DB"/>
              </a:solidFill>
              <a:effectLst/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រក្សាសារធាតុងាយឆេះ (ប្រេងកាត សាំង ហ្គាស) ឱ្យនៅឆ្ងាយពីប្រភពកម្តៅ និងអណ្តាតភ្លើង។</a:t>
            </a:r>
            <a:endParaRPr lang="en-US" dirty="0">
              <a:solidFill>
                <a:srgbClr val="D1D5DB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ត្រូវពន្លត់ភ្លើងចង្ក្រាន និងភ្លើងធូបទៀនឱ្យបានត្រឹមត្រូវ មុនពេលចូលគេងដាច់ខាត។</a:t>
            </a:r>
            <a:endParaRPr lang="en-US" b="0" i="0" u="none" strike="noStrike" dirty="0">
              <a:solidFill>
                <a:srgbClr val="D1D5DB"/>
              </a:solidFill>
              <a:effectLst/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គ្រប់គេហដ្ឋានគួរតែបំពាក់ឧបករណ៍ចាប់ផ្សែង និងមានបំពង់ពន្លត់អគ្គីភ័យខ្នាតតូចប្រចាំផ្ទះ។</a:t>
            </a:r>
            <a:endParaRPr lang="en-US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B4415F-25B2-478E-ABB5-5B9479E82FB6}"/>
              </a:ext>
            </a:extLst>
          </p:cNvPr>
          <p:cNvSpPr/>
          <p:nvPr/>
        </p:nvSpPr>
        <p:spPr>
          <a:xfrm>
            <a:off x="337452" y="3494162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i="0" u="none" strike="noStrike" dirty="0">
                <a:solidFill>
                  <a:srgbClr val="00B0F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សុវត្ថិភាពពេលចម្អិនអាហារ</a:t>
            </a:r>
            <a:endParaRPr lang="en-US" sz="2400" dirty="0">
              <a:solidFill>
                <a:srgbClr val="00B0F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63E2AB-8E89-4294-9BF9-9BBE53C2F094}"/>
              </a:ext>
            </a:extLst>
          </p:cNvPr>
          <p:cNvSpPr/>
          <p:nvPr/>
        </p:nvSpPr>
        <p:spPr>
          <a:xfrm>
            <a:off x="177282" y="4506690"/>
            <a:ext cx="8901404" cy="2659225"/>
          </a:xfrm>
          <a:prstGeom prst="roundRect">
            <a:avLst>
              <a:gd name="adj" fmla="val 338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m-KH" b="1" i="0" u="none" strike="noStrike" dirty="0">
                <a:solidFill>
                  <a:srgbClr val="FCA5A5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ប្រយ័ត្នភ្លើងឆេះខ្ទះប្រេង</a:t>
            </a:r>
          </a:p>
          <a:p>
            <a:pPr>
              <a:lnSpc>
                <a:spcPct val="150000"/>
              </a:lnSpc>
            </a:pPr>
            <a:r>
              <a:rPr lang="km-KH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ផ្ទះបាយគឺជាកន្លែងដែលងាយកើតមានអគ្គីភ័យបំផុត។ កុំទុកចង្ក្រានចោលពេលកំពុងចម្អិនអាហារ។</a:t>
            </a:r>
            <a:endParaRPr lang="km-KH" b="1" dirty="0">
              <a:solidFill>
                <a:srgbClr val="FCA5A5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km-KH" b="1" i="0" u="none" strike="noStrike" dirty="0">
                <a:solidFill>
                  <a:srgbClr val="FF00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បម្រាម៖</a:t>
            </a:r>
            <a:r>
              <a:rPr lang="km-KH" b="0" i="0" u="none" strike="noStrike" dirty="0">
                <a:solidFill>
                  <a:srgbClr val="FF00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 </a:t>
            </a:r>
            <a:r>
              <a:rPr lang="km-KH" b="0" i="0" u="none" strike="noStrike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ប្រសិនបើមានភ្លើងឆេះខ្ទះប្រេង ដាច់ខាតកុំចាក់ទឹកពីលើ ព្រោះវានឹងធ្វើឱ្យភ្លើងកាន់តែឆាបឆេះខ្លាំង និងផ្ទុះសាច។ ត្រូវយកក្រណាត់សើមក្រាស់មកគ្របពីលើ ឬប្រើបំពង់ពន្លត់អគ្គីភ័យប្រភេទ </a:t>
            </a:r>
            <a:r>
              <a:rPr lang="en-US" b="0" i="0" u="none" strike="noStrike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F </a:t>
            </a:r>
            <a:r>
              <a:rPr lang="km-KH" b="0" i="0" u="none" strike="noStrike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រឺម្សៅ។</a:t>
            </a:r>
            <a:endParaRPr lang="en-US" dirty="0">
              <a:solidFill>
                <a:srgbClr val="FFFF00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152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i="0" u="none" strike="noStrike" dirty="0">
                <a:solidFill>
                  <a:srgbClr val="00B0F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ការបង្ការអគ្គីភ័យនៅ</a:t>
            </a:r>
            <a:r>
              <a:rPr lang="km-KH" sz="2400" dirty="0">
                <a:solidFill>
                  <a:srgbClr val="00B0F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កន្លែងធ្វើការ</a:t>
            </a:r>
            <a:endParaRPr lang="en-US" sz="2400" dirty="0">
              <a:solidFill>
                <a:srgbClr val="00B0F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492700-8770-49B7-8E11-2354744B2671}"/>
              </a:ext>
            </a:extLst>
          </p:cNvPr>
          <p:cNvGrpSpPr/>
          <p:nvPr/>
        </p:nvGrpSpPr>
        <p:grpSpPr>
          <a:xfrm>
            <a:off x="457198" y="1830355"/>
            <a:ext cx="2621902" cy="3349690"/>
            <a:chOff x="457198" y="1830355"/>
            <a:chExt cx="2621902" cy="334969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8B73152-76DB-4AF0-907F-70AB91B13BC4}"/>
                </a:ext>
              </a:extLst>
            </p:cNvPr>
            <p:cNvSpPr/>
            <p:nvPr/>
          </p:nvSpPr>
          <p:spPr>
            <a:xfrm>
              <a:off x="457198" y="1830355"/>
              <a:ext cx="2621902" cy="3349690"/>
            </a:xfrm>
            <a:prstGeom prst="roundRect">
              <a:avLst>
                <a:gd name="adj" fmla="val 5251"/>
              </a:avLst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1F41A96-CFF3-4D22-ADCE-30A19BBFD35F}"/>
                </a:ext>
              </a:extLst>
            </p:cNvPr>
            <p:cNvSpPr/>
            <p:nvPr/>
          </p:nvSpPr>
          <p:spPr>
            <a:xfrm>
              <a:off x="457198" y="1830356"/>
              <a:ext cx="2621902" cy="1199917"/>
            </a:xfrm>
            <a:custGeom>
              <a:avLst/>
              <a:gdLst>
                <a:gd name="connsiteX0" fmla="*/ 258991 w 2621902"/>
                <a:gd name="connsiteY0" fmla="*/ 0 h 1199917"/>
                <a:gd name="connsiteX1" fmla="*/ 2362911 w 2621902"/>
                <a:gd name="connsiteY1" fmla="*/ 0 h 1199917"/>
                <a:gd name="connsiteX2" fmla="*/ 2621902 w 2621902"/>
                <a:gd name="connsiteY2" fmla="*/ 258991 h 1199917"/>
                <a:gd name="connsiteX3" fmla="*/ 2621902 w 2621902"/>
                <a:gd name="connsiteY3" fmla="*/ 1199917 h 1199917"/>
                <a:gd name="connsiteX4" fmla="*/ 0 w 2621902"/>
                <a:gd name="connsiteY4" fmla="*/ 1199917 h 1199917"/>
                <a:gd name="connsiteX5" fmla="*/ 0 w 2621902"/>
                <a:gd name="connsiteY5" fmla="*/ 258991 h 1199917"/>
                <a:gd name="connsiteX6" fmla="*/ 258991 w 2621902"/>
                <a:gd name="connsiteY6" fmla="*/ 0 h 119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1902" h="1199917">
                  <a:moveTo>
                    <a:pt x="258991" y="0"/>
                  </a:moveTo>
                  <a:lnTo>
                    <a:pt x="2362911" y="0"/>
                  </a:lnTo>
                  <a:cubicBezTo>
                    <a:pt x="2505948" y="0"/>
                    <a:pt x="2621902" y="115954"/>
                    <a:pt x="2621902" y="258991"/>
                  </a:cubicBezTo>
                  <a:lnTo>
                    <a:pt x="2621902" y="1199917"/>
                  </a:lnTo>
                  <a:lnTo>
                    <a:pt x="0" y="1199917"/>
                  </a:lnTo>
                  <a:lnTo>
                    <a:pt x="0" y="258991"/>
                  </a:lnTo>
                  <a:cubicBezTo>
                    <a:pt x="0" y="115954"/>
                    <a:pt x="115954" y="0"/>
                    <a:pt x="258991" y="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4AE845-61B6-4DF0-A1F2-0964310A6348}"/>
                </a:ext>
              </a:extLst>
            </p:cNvPr>
            <p:cNvSpPr/>
            <p:nvPr/>
          </p:nvSpPr>
          <p:spPr>
            <a:xfrm>
              <a:off x="457198" y="3075991"/>
              <a:ext cx="2621902" cy="2104054"/>
            </a:xfrm>
            <a:custGeom>
              <a:avLst/>
              <a:gdLst>
                <a:gd name="connsiteX0" fmla="*/ 0 w 2621902"/>
                <a:gd name="connsiteY0" fmla="*/ 0 h 2104054"/>
                <a:gd name="connsiteX1" fmla="*/ 2621902 w 2621902"/>
                <a:gd name="connsiteY1" fmla="*/ 0 h 2104054"/>
                <a:gd name="connsiteX2" fmla="*/ 2621902 w 2621902"/>
                <a:gd name="connsiteY2" fmla="*/ 1845063 h 2104054"/>
                <a:gd name="connsiteX3" fmla="*/ 2362911 w 2621902"/>
                <a:gd name="connsiteY3" fmla="*/ 2104054 h 2104054"/>
                <a:gd name="connsiteX4" fmla="*/ 258991 w 2621902"/>
                <a:gd name="connsiteY4" fmla="*/ 2104054 h 2104054"/>
                <a:gd name="connsiteX5" fmla="*/ 0 w 2621902"/>
                <a:gd name="connsiteY5" fmla="*/ 1845063 h 2104054"/>
                <a:gd name="connsiteX6" fmla="*/ 0 w 2621902"/>
                <a:gd name="connsiteY6" fmla="*/ 0 h 2104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1902" h="2104054">
                  <a:moveTo>
                    <a:pt x="0" y="0"/>
                  </a:moveTo>
                  <a:lnTo>
                    <a:pt x="2621902" y="0"/>
                  </a:lnTo>
                  <a:lnTo>
                    <a:pt x="2621902" y="1845063"/>
                  </a:lnTo>
                  <a:cubicBezTo>
                    <a:pt x="2621902" y="1988100"/>
                    <a:pt x="2505948" y="2104054"/>
                    <a:pt x="2362911" y="2104054"/>
                  </a:cubicBezTo>
                  <a:lnTo>
                    <a:pt x="258991" y="2104054"/>
                  </a:lnTo>
                  <a:cubicBezTo>
                    <a:pt x="115954" y="2104054"/>
                    <a:pt x="0" y="1988100"/>
                    <a:pt x="0" y="1845063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m-KH" sz="2000" b="1" i="0" u="none" strike="noStrike" dirty="0">
                  <a:solidFill>
                    <a:srgbClr val="FFFF0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ត្រួតពិនិត្យប្រព័ន្ធភ្លើង</a:t>
              </a:r>
              <a:endParaRPr lang="km-KH" sz="2000" b="0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  <a:p>
              <a:pPr algn="ctr">
                <a:lnSpc>
                  <a:spcPct val="150000"/>
                </a:lnSpc>
              </a:pPr>
              <a:br>
                <a:rPr lang="km-KH" sz="1400" dirty="0">
                  <a:latin typeface="Khmer OS Battambang" panose="02000500000000020004" pitchFamily="2" charset="0"/>
                  <a:cs typeface="Khmer OS Battambang" panose="02000500000000020004" pitchFamily="2" charset="0"/>
                </a:rPr>
              </a:br>
              <a:r>
                <a:rPr lang="km-KH" sz="14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ត្រូវមានអ្នកបច្ចេកទេសជំនាញ មកត្រួតពិនិត្យបណ្តាញអគ្គិសនីជាប្រចាំ និងរៀបចំប្រព័ន្ធការពាររន្ទះ។</a:t>
              </a:r>
              <a:endParaRPr lang="en-US" sz="1400" dirty="0"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D47532-D331-4384-8F57-A12E21D8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111" y="2230174"/>
            <a:ext cx="60007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A7DFB0A-9134-4B57-B646-9205B316EA17}"/>
              </a:ext>
            </a:extLst>
          </p:cNvPr>
          <p:cNvGrpSpPr/>
          <p:nvPr/>
        </p:nvGrpSpPr>
        <p:grpSpPr>
          <a:xfrm>
            <a:off x="3265714" y="1830355"/>
            <a:ext cx="2621902" cy="3349690"/>
            <a:chOff x="457198" y="1830355"/>
            <a:chExt cx="2621902" cy="334969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B9D36EB-08C6-4E3F-85D7-64E005501591}"/>
                </a:ext>
              </a:extLst>
            </p:cNvPr>
            <p:cNvSpPr/>
            <p:nvPr/>
          </p:nvSpPr>
          <p:spPr>
            <a:xfrm>
              <a:off x="457198" y="1830355"/>
              <a:ext cx="2621902" cy="3349690"/>
            </a:xfrm>
            <a:prstGeom prst="roundRect">
              <a:avLst>
                <a:gd name="adj" fmla="val 4540"/>
              </a:avLst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CB2639-10BC-4EA2-B7BA-CBEEE2F0DC13}"/>
                </a:ext>
              </a:extLst>
            </p:cNvPr>
            <p:cNvSpPr/>
            <p:nvPr/>
          </p:nvSpPr>
          <p:spPr>
            <a:xfrm>
              <a:off x="457198" y="1830356"/>
              <a:ext cx="2621902" cy="1199917"/>
            </a:xfrm>
            <a:custGeom>
              <a:avLst/>
              <a:gdLst>
                <a:gd name="connsiteX0" fmla="*/ 258991 w 2621902"/>
                <a:gd name="connsiteY0" fmla="*/ 0 h 1199917"/>
                <a:gd name="connsiteX1" fmla="*/ 2362911 w 2621902"/>
                <a:gd name="connsiteY1" fmla="*/ 0 h 1199917"/>
                <a:gd name="connsiteX2" fmla="*/ 2621902 w 2621902"/>
                <a:gd name="connsiteY2" fmla="*/ 258991 h 1199917"/>
                <a:gd name="connsiteX3" fmla="*/ 2621902 w 2621902"/>
                <a:gd name="connsiteY3" fmla="*/ 1199917 h 1199917"/>
                <a:gd name="connsiteX4" fmla="*/ 0 w 2621902"/>
                <a:gd name="connsiteY4" fmla="*/ 1199917 h 1199917"/>
                <a:gd name="connsiteX5" fmla="*/ 0 w 2621902"/>
                <a:gd name="connsiteY5" fmla="*/ 258991 h 1199917"/>
                <a:gd name="connsiteX6" fmla="*/ 258991 w 2621902"/>
                <a:gd name="connsiteY6" fmla="*/ 0 h 119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1902" h="1199917">
                  <a:moveTo>
                    <a:pt x="258991" y="0"/>
                  </a:moveTo>
                  <a:lnTo>
                    <a:pt x="2362911" y="0"/>
                  </a:lnTo>
                  <a:cubicBezTo>
                    <a:pt x="2505948" y="0"/>
                    <a:pt x="2621902" y="115954"/>
                    <a:pt x="2621902" y="258991"/>
                  </a:cubicBezTo>
                  <a:lnTo>
                    <a:pt x="2621902" y="1199917"/>
                  </a:lnTo>
                  <a:lnTo>
                    <a:pt x="0" y="1199917"/>
                  </a:lnTo>
                  <a:lnTo>
                    <a:pt x="0" y="258991"/>
                  </a:lnTo>
                  <a:cubicBezTo>
                    <a:pt x="0" y="115954"/>
                    <a:pt x="115954" y="0"/>
                    <a:pt x="258991" y="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EB7D80-1FF6-4A5E-9E77-8BE277A4DEFE}"/>
                </a:ext>
              </a:extLst>
            </p:cNvPr>
            <p:cNvSpPr/>
            <p:nvPr/>
          </p:nvSpPr>
          <p:spPr>
            <a:xfrm>
              <a:off x="457198" y="3075991"/>
              <a:ext cx="2621902" cy="2104054"/>
            </a:xfrm>
            <a:custGeom>
              <a:avLst/>
              <a:gdLst>
                <a:gd name="connsiteX0" fmla="*/ 0 w 2621902"/>
                <a:gd name="connsiteY0" fmla="*/ 0 h 2104054"/>
                <a:gd name="connsiteX1" fmla="*/ 2621902 w 2621902"/>
                <a:gd name="connsiteY1" fmla="*/ 0 h 2104054"/>
                <a:gd name="connsiteX2" fmla="*/ 2621902 w 2621902"/>
                <a:gd name="connsiteY2" fmla="*/ 1845063 h 2104054"/>
                <a:gd name="connsiteX3" fmla="*/ 2362911 w 2621902"/>
                <a:gd name="connsiteY3" fmla="*/ 2104054 h 2104054"/>
                <a:gd name="connsiteX4" fmla="*/ 258991 w 2621902"/>
                <a:gd name="connsiteY4" fmla="*/ 2104054 h 2104054"/>
                <a:gd name="connsiteX5" fmla="*/ 0 w 2621902"/>
                <a:gd name="connsiteY5" fmla="*/ 1845063 h 2104054"/>
                <a:gd name="connsiteX6" fmla="*/ 0 w 2621902"/>
                <a:gd name="connsiteY6" fmla="*/ 0 h 2104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1902" h="2104054">
                  <a:moveTo>
                    <a:pt x="0" y="0"/>
                  </a:moveTo>
                  <a:lnTo>
                    <a:pt x="2621902" y="0"/>
                  </a:lnTo>
                  <a:lnTo>
                    <a:pt x="2621902" y="1845063"/>
                  </a:lnTo>
                  <a:cubicBezTo>
                    <a:pt x="2621902" y="1988100"/>
                    <a:pt x="2505948" y="2104054"/>
                    <a:pt x="2362911" y="2104054"/>
                  </a:cubicBezTo>
                  <a:lnTo>
                    <a:pt x="258991" y="2104054"/>
                  </a:lnTo>
                  <a:cubicBezTo>
                    <a:pt x="115954" y="2104054"/>
                    <a:pt x="0" y="1988100"/>
                    <a:pt x="0" y="1845063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m-KH" sz="1800" b="1" i="0" u="none" strike="noStrike" dirty="0">
                  <a:solidFill>
                    <a:srgbClr val="00B0F0"/>
                  </a:solidFill>
                  <a:effectLst/>
                  <a:latin typeface="Kantumruy Pro"/>
                </a:rPr>
                <a:t>រំដោះច្រកចេញអាសន្ន</a:t>
              </a:r>
              <a:endParaRPr lang="km-KH" sz="2000" b="0" dirty="0">
                <a:solidFill>
                  <a:srgbClr val="00B0F0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br>
                <a:rPr lang="km-KH" sz="2000" dirty="0"/>
              </a:br>
              <a:r>
                <a:rPr lang="km-KH" sz="14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ដាច់ខាតមិនត្រូវដាក់ឥវ៉ាន់ ឬរនាំងបិទបាំងច្រកចេញសង្គ្រោះបន្ទាន់ (</a:t>
              </a:r>
              <a:r>
                <a:rPr lang="en-US" sz="1800" b="0" i="0" u="none" strike="noStrike" dirty="0">
                  <a:solidFill>
                    <a:srgbClr val="D1D5DB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Emergency Exit</a:t>
              </a:r>
              <a:r>
                <a:rPr lang="en-US" sz="1800" b="0" i="0" u="none" strike="noStrike" dirty="0">
                  <a:solidFill>
                    <a:srgbClr val="D1D5DB"/>
                  </a:solidFill>
                  <a:effectLst/>
                  <a:latin typeface="Battambang" panose="020B0606030804020204" pitchFamily="34" charset="0"/>
                </a:rPr>
                <a:t>) </a:t>
              </a:r>
              <a:r>
                <a:rPr lang="km-KH" sz="14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ឡើយ។</a:t>
              </a:r>
              <a:endParaRPr lang="en-US" sz="1400" dirty="0"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0993D26-E96C-4B4F-815C-A103A8ABFD97}"/>
              </a:ext>
            </a:extLst>
          </p:cNvPr>
          <p:cNvGrpSpPr/>
          <p:nvPr/>
        </p:nvGrpSpPr>
        <p:grpSpPr>
          <a:xfrm>
            <a:off x="6074231" y="1830355"/>
            <a:ext cx="2621902" cy="3349690"/>
            <a:chOff x="457198" y="1830355"/>
            <a:chExt cx="2621902" cy="33496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D1737E6-BD8A-4120-95B3-D90E65AD7D08}"/>
                </a:ext>
              </a:extLst>
            </p:cNvPr>
            <p:cNvSpPr/>
            <p:nvPr/>
          </p:nvSpPr>
          <p:spPr>
            <a:xfrm>
              <a:off x="457198" y="1830355"/>
              <a:ext cx="2621902" cy="3349690"/>
            </a:xfrm>
            <a:prstGeom prst="roundRect">
              <a:avLst>
                <a:gd name="adj" fmla="val 4540"/>
              </a:avLst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DE93391-82BC-4CB3-AA90-BC898B690F4E}"/>
                </a:ext>
              </a:extLst>
            </p:cNvPr>
            <p:cNvSpPr/>
            <p:nvPr/>
          </p:nvSpPr>
          <p:spPr>
            <a:xfrm>
              <a:off x="457198" y="1830356"/>
              <a:ext cx="2621902" cy="1199917"/>
            </a:xfrm>
            <a:custGeom>
              <a:avLst/>
              <a:gdLst>
                <a:gd name="connsiteX0" fmla="*/ 258991 w 2621902"/>
                <a:gd name="connsiteY0" fmla="*/ 0 h 1199917"/>
                <a:gd name="connsiteX1" fmla="*/ 2362911 w 2621902"/>
                <a:gd name="connsiteY1" fmla="*/ 0 h 1199917"/>
                <a:gd name="connsiteX2" fmla="*/ 2621902 w 2621902"/>
                <a:gd name="connsiteY2" fmla="*/ 258991 h 1199917"/>
                <a:gd name="connsiteX3" fmla="*/ 2621902 w 2621902"/>
                <a:gd name="connsiteY3" fmla="*/ 1199917 h 1199917"/>
                <a:gd name="connsiteX4" fmla="*/ 0 w 2621902"/>
                <a:gd name="connsiteY4" fmla="*/ 1199917 h 1199917"/>
                <a:gd name="connsiteX5" fmla="*/ 0 w 2621902"/>
                <a:gd name="connsiteY5" fmla="*/ 258991 h 1199917"/>
                <a:gd name="connsiteX6" fmla="*/ 258991 w 2621902"/>
                <a:gd name="connsiteY6" fmla="*/ 0 h 119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1902" h="1199917">
                  <a:moveTo>
                    <a:pt x="258991" y="0"/>
                  </a:moveTo>
                  <a:lnTo>
                    <a:pt x="2362911" y="0"/>
                  </a:lnTo>
                  <a:cubicBezTo>
                    <a:pt x="2505948" y="0"/>
                    <a:pt x="2621902" y="115954"/>
                    <a:pt x="2621902" y="258991"/>
                  </a:cubicBezTo>
                  <a:lnTo>
                    <a:pt x="2621902" y="1199917"/>
                  </a:lnTo>
                  <a:lnTo>
                    <a:pt x="0" y="1199917"/>
                  </a:lnTo>
                  <a:lnTo>
                    <a:pt x="0" y="258991"/>
                  </a:lnTo>
                  <a:cubicBezTo>
                    <a:pt x="0" y="115954"/>
                    <a:pt x="115954" y="0"/>
                    <a:pt x="258991" y="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3D0694D-7313-4C73-BAC1-2363BC32CCC1}"/>
                </a:ext>
              </a:extLst>
            </p:cNvPr>
            <p:cNvSpPr/>
            <p:nvPr/>
          </p:nvSpPr>
          <p:spPr>
            <a:xfrm>
              <a:off x="457198" y="3075991"/>
              <a:ext cx="2621902" cy="2104054"/>
            </a:xfrm>
            <a:custGeom>
              <a:avLst/>
              <a:gdLst>
                <a:gd name="connsiteX0" fmla="*/ 0 w 2621902"/>
                <a:gd name="connsiteY0" fmla="*/ 0 h 2104054"/>
                <a:gd name="connsiteX1" fmla="*/ 2621902 w 2621902"/>
                <a:gd name="connsiteY1" fmla="*/ 0 h 2104054"/>
                <a:gd name="connsiteX2" fmla="*/ 2621902 w 2621902"/>
                <a:gd name="connsiteY2" fmla="*/ 1845063 h 2104054"/>
                <a:gd name="connsiteX3" fmla="*/ 2362911 w 2621902"/>
                <a:gd name="connsiteY3" fmla="*/ 2104054 h 2104054"/>
                <a:gd name="connsiteX4" fmla="*/ 258991 w 2621902"/>
                <a:gd name="connsiteY4" fmla="*/ 2104054 h 2104054"/>
                <a:gd name="connsiteX5" fmla="*/ 0 w 2621902"/>
                <a:gd name="connsiteY5" fmla="*/ 1845063 h 2104054"/>
                <a:gd name="connsiteX6" fmla="*/ 0 w 2621902"/>
                <a:gd name="connsiteY6" fmla="*/ 0 h 2104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1902" h="2104054">
                  <a:moveTo>
                    <a:pt x="0" y="0"/>
                  </a:moveTo>
                  <a:lnTo>
                    <a:pt x="2621902" y="0"/>
                  </a:lnTo>
                  <a:lnTo>
                    <a:pt x="2621902" y="1845063"/>
                  </a:lnTo>
                  <a:cubicBezTo>
                    <a:pt x="2621902" y="1988100"/>
                    <a:pt x="2505948" y="2104054"/>
                    <a:pt x="2362911" y="2104054"/>
                  </a:cubicBezTo>
                  <a:lnTo>
                    <a:pt x="258991" y="2104054"/>
                  </a:lnTo>
                  <a:cubicBezTo>
                    <a:pt x="115954" y="2104054"/>
                    <a:pt x="0" y="1988100"/>
                    <a:pt x="0" y="1845063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m-KH" sz="1800" b="1" i="0" u="none" strike="noStrike" dirty="0">
                  <a:solidFill>
                    <a:srgbClr val="00B050"/>
                  </a:solidFill>
                  <a:effectLst/>
                  <a:latin typeface="Kantumruy Pro"/>
                </a:rPr>
                <a:t>បំពាក់ឧបករណ៍</a:t>
              </a:r>
            </a:p>
            <a:p>
              <a:pPr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br>
                <a:rPr lang="km-KH" sz="1400" dirty="0">
                  <a:latin typeface="Khmer OS Battambang" panose="02000500000000020004" pitchFamily="2" charset="0"/>
                  <a:cs typeface="Khmer OS Battambang" panose="02000500000000020004" pitchFamily="2" charset="0"/>
                </a:rPr>
              </a:br>
              <a:r>
                <a:rPr lang="km-KH" sz="14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ត្រូវបំពាក់បំពង់ពន្លត់អគ្គីភ័យ និងប្រព័ន្ធប្រកាសអាសន្នឱ្យបានគ្រប់គ្រាន់នៅគ្រប់ជាន់នៃអគារ។</a:t>
              </a:r>
              <a:endParaRPr lang="en-US" sz="1400" dirty="0"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3DB85A5F-6385-42DA-8861-B2AE15635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489" y="223017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2DAF0D7-3DF7-445F-ADD6-CA933C89D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2" y="2230174"/>
            <a:ext cx="60007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98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i="0" u="none" strike="noStrike" dirty="0">
                <a:solidFill>
                  <a:srgbClr val="00B0F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ប្រព័ន្ធប្រកាសអាសន្ន (</a:t>
            </a:r>
            <a:r>
              <a:rPr lang="en-US" sz="2400" i="0" u="none" strike="noStrike" dirty="0">
                <a:solidFill>
                  <a:srgbClr val="00B0F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Smoke Alarms)</a:t>
            </a:r>
            <a:endParaRPr lang="en-US" sz="2400" dirty="0">
              <a:solidFill>
                <a:srgbClr val="00B0F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E2D2BB-C06C-4BA4-B9BA-7D055C2EA9F6}"/>
              </a:ext>
            </a:extLst>
          </p:cNvPr>
          <p:cNvSpPr/>
          <p:nvPr/>
        </p:nvSpPr>
        <p:spPr>
          <a:xfrm>
            <a:off x="110411" y="905070"/>
            <a:ext cx="5441303" cy="5645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ឧបករណ៍ចាប់ផ្សែង (</a:t>
            </a:r>
            <a:r>
              <a:rPr lang="en-US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Smoke Detector) </a:t>
            </a: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គឺជាប្រព័ន្ធទី១ ដែលជួយដាស់តឿនយើងឱ្យដឹងទាន់ពេលវេលា។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ការដឹងមុន ជួយឱ្យយើងមានពេលគ្រប់គ្រាន់ក្នុងការជម្លៀសខ្លួន និងជួយសង្គ្រោះអាយុជីវិត។</a:t>
            </a:r>
            <a:endParaRPr lang="km-KH" sz="2000" dirty="0">
              <a:solidFill>
                <a:srgbClr val="D1D5DB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ត្រូវត្រួតពិនិត្យ និងផ្លាស់ប្តូរថ្មឧបករណ៍ចាប់ផ្សែងជារៀងរាល់ ៦ខែម្តង ដើម្បីធានាថាវាដំណើរការ។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នៅពេលឮសំឡេងរោទ៍ប្រកាសអាសន្ន វាគឺជាសញ្ញាប្រាប់ថាយើងត្រូវចាកចេញពីអគារភ្លាមៗ។</a:t>
            </a:r>
            <a:endParaRPr lang="km-KH" sz="2000" dirty="0">
              <a:solidFill>
                <a:srgbClr val="D1D5DB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B990D-33C1-4D13-8221-7F16E0917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714" y="1074420"/>
            <a:ext cx="3559629" cy="355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2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76BF2E-A1C9-4BDE-8296-B88985BE5296}"/>
              </a:ext>
            </a:extLst>
          </p:cNvPr>
          <p:cNvSpPr txBox="1"/>
          <p:nvPr/>
        </p:nvSpPr>
        <p:spPr>
          <a:xfrm>
            <a:off x="2285999" y="268164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km-KH" sz="2800" b="1" i="0" u="none" strike="noStrike" dirty="0">
                <a:solidFill>
                  <a:srgbClr val="FF000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វិធីសាស្ត្រពន្លត់អគ្គីភ័យ</a:t>
            </a:r>
            <a:endParaRPr lang="km-KH" sz="2800" b="0" dirty="0">
              <a:solidFill>
                <a:srgbClr val="FF0000"/>
              </a:solidFill>
              <a:effectLst/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F32425-2A02-470C-8CE9-516A68E0837C}"/>
              </a:ext>
            </a:extLst>
          </p:cNvPr>
          <p:cNvSpPr txBox="1"/>
          <p:nvPr/>
        </p:nvSpPr>
        <p:spPr>
          <a:xfrm>
            <a:off x="1985962" y="3719810"/>
            <a:ext cx="51720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km-KH" sz="2800" b="0" i="0" u="none" strike="noStrike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និងការជម្លៀសខ្លួនពេលមានអាសន្ន</a:t>
            </a:r>
            <a:endParaRPr lang="km-KH" sz="2800" b="0" dirty="0">
              <a:solidFill>
                <a:srgbClr val="FFFF00"/>
              </a:solidFill>
              <a:effectLst/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br>
              <a:rPr lang="km-KH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007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b="1" i="0" u="none" strike="noStrike" dirty="0">
                <a:solidFill>
                  <a:srgbClr val="FF000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ប្រភេទបំពង់ពន្លត់អគ្គីភ័យ</a:t>
            </a:r>
            <a:endParaRPr lang="en-US" sz="2400" dirty="0">
              <a:solidFill>
                <a:srgbClr val="FF000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B40E00-EB49-415C-8BBD-36983372472B}"/>
              </a:ext>
            </a:extLst>
          </p:cNvPr>
          <p:cNvSpPr/>
          <p:nvPr/>
        </p:nvSpPr>
        <p:spPr>
          <a:xfrm>
            <a:off x="180391" y="5019869"/>
            <a:ext cx="2875384" cy="1678110"/>
          </a:xfrm>
          <a:prstGeom prst="roundRect">
            <a:avLst>
              <a:gd name="adj" fmla="val 248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m-KH" sz="1800" b="1" i="0" u="none" strike="noStrike" dirty="0">
                <a:solidFill>
                  <a:srgbClr val="7030A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ម្សៅគីមីស្ងួត (</a:t>
            </a:r>
            <a:r>
              <a:rPr lang="en-US" sz="1800" b="1" i="0" u="none" strike="noStrike" dirty="0">
                <a:solidFill>
                  <a:srgbClr val="7030A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Dry Powder)</a:t>
            </a:r>
          </a:p>
          <a:p>
            <a:pPr algn="ctr">
              <a:lnSpc>
                <a:spcPct val="150000"/>
              </a:lnSpc>
            </a:pPr>
            <a:r>
              <a:rPr lang="km-KH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ប្រើបានសម្រាប់អគ្គីភ័យប្រភេទ </a:t>
            </a:r>
            <a:r>
              <a:rPr lang="en-US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A, B, C </a:t>
            </a:r>
            <a:r>
              <a:rPr lang="km-KH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និង </a:t>
            </a:r>
            <a:r>
              <a:rPr lang="en-US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E</a:t>
            </a:r>
            <a:r>
              <a:rPr lang="km-KH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។ នេះគឺជាប្រភេទដែលពេញនិយមប្រើទូទៅបំផុត។</a:t>
            </a:r>
            <a:endParaRPr lang="en-US" sz="16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E15BD6F-EEF1-456F-9DAE-E0586A4FD8FC}"/>
              </a:ext>
            </a:extLst>
          </p:cNvPr>
          <p:cNvSpPr/>
          <p:nvPr/>
        </p:nvSpPr>
        <p:spPr>
          <a:xfrm>
            <a:off x="3134308" y="5019869"/>
            <a:ext cx="2875384" cy="1678110"/>
          </a:xfrm>
          <a:prstGeom prst="roundRect">
            <a:avLst>
              <a:gd name="adj" fmla="val 24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m-KH" sz="1800" b="1" i="0" u="none" strike="noStrike" dirty="0">
                <a:solidFill>
                  <a:schemeClr val="tx1"/>
                </a:solidFill>
                <a:effectLst/>
                <a:latin typeface="Kantumruy Pro"/>
              </a:rPr>
              <a:t>កាបូនឌីអុកស៊ីត (</a:t>
            </a: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Kantumruy Pro"/>
              </a:rPr>
              <a:t>CO2)</a:t>
            </a:r>
          </a:p>
          <a:p>
            <a:pPr algn="ctr">
              <a:lnSpc>
                <a:spcPct val="150000"/>
              </a:lnSpc>
            </a:pPr>
            <a:r>
              <a:rPr lang="km-KH" sz="1600" b="0" i="0" u="none" strike="noStrike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ប្រើបានល្អបំផុតសម្រាប់ប្រភេទ </a:t>
            </a:r>
            <a:r>
              <a:rPr lang="en-US" sz="1600" b="0" i="0" u="none" strike="noStrike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B </a:t>
            </a:r>
            <a:r>
              <a:rPr lang="km-KH" sz="1600" b="0" i="0" u="none" strike="noStrike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និង </a:t>
            </a:r>
            <a:r>
              <a:rPr lang="en-US" sz="1600" b="0" i="0" u="none" strike="noStrike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E</a:t>
            </a:r>
            <a:r>
              <a:rPr lang="km-KH" sz="1600" b="0" i="0" u="none" strike="noStrike" dirty="0">
                <a:solidFill>
                  <a:srgbClr val="FFFF00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។ ពិសេសមិនធ្វើឱ្យខូចខាតដល់ឧបករណ៍អគ្គិសនីទេ។</a:t>
            </a:r>
            <a:endParaRPr lang="en-US" sz="1600" dirty="0">
              <a:solidFill>
                <a:srgbClr val="FFFF00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364B1EC-876A-45D0-B383-71A67670C746}"/>
              </a:ext>
            </a:extLst>
          </p:cNvPr>
          <p:cNvSpPr/>
          <p:nvPr/>
        </p:nvSpPr>
        <p:spPr>
          <a:xfrm>
            <a:off x="6088225" y="5019869"/>
            <a:ext cx="2875384" cy="1678110"/>
          </a:xfrm>
          <a:prstGeom prst="roundRect">
            <a:avLst>
              <a:gd name="adj" fmla="val 248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m-KH" sz="1800" b="1" i="0" u="none" strike="noStrike" dirty="0">
                <a:solidFill>
                  <a:srgbClr val="00B0F0"/>
                </a:solidFill>
                <a:effectLst/>
                <a:latin typeface="Kantumruy Pro"/>
              </a:rPr>
              <a:t>ហ្វូម (</a:t>
            </a:r>
            <a:r>
              <a:rPr lang="en-US" sz="1800" b="1" i="0" u="none" strike="noStrike" dirty="0">
                <a:solidFill>
                  <a:srgbClr val="00B0F0"/>
                </a:solidFill>
                <a:effectLst/>
                <a:latin typeface="Kantumruy Pro"/>
              </a:rPr>
              <a:t>Foam)</a:t>
            </a:r>
          </a:p>
          <a:p>
            <a:pPr algn="ctr">
              <a:lnSpc>
                <a:spcPct val="150000"/>
              </a:lnSpc>
            </a:pPr>
            <a:r>
              <a:rPr lang="km-KH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ប្រើបានល្អសម្រាប់ប្រភេទ </a:t>
            </a:r>
            <a:r>
              <a:rPr lang="en-US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A </a:t>
            </a:r>
            <a:r>
              <a:rPr lang="km-KH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និង </a:t>
            </a:r>
            <a:r>
              <a:rPr lang="en-US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B (</a:t>
            </a:r>
            <a:r>
              <a:rPr lang="km-KH" sz="16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សាំង ប្រេង)។ ហាមប្រើលើប្រព័ន្ធអគ្គិសនីដាច់ខាត។</a:t>
            </a:r>
            <a:endParaRPr lang="en-US" sz="16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6B526E-6CDC-4932-8D72-FE0A64766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91" y="1074420"/>
            <a:ext cx="3087100" cy="36016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F8BA91-DE54-404D-AF6F-1A94588C317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9" r="16638"/>
          <a:stretch/>
        </p:blipFill>
        <p:spPr>
          <a:xfrm>
            <a:off x="3180961" y="894105"/>
            <a:ext cx="2742203" cy="3953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50894E-B7CE-4163-9EEC-AA19AEF171B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6" r="23568"/>
          <a:stretch/>
        </p:blipFill>
        <p:spPr>
          <a:xfrm>
            <a:off x="6718039" y="1498090"/>
            <a:ext cx="1738503" cy="317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31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b="1" i="0" u="none" strike="noStrike" dirty="0">
                <a:solidFill>
                  <a:srgbClr val="FF000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របៀបប្រើប្រាស់បំពង់ (រូបមន្ត </a:t>
            </a:r>
            <a:r>
              <a:rPr lang="en-US" sz="2400" b="1" i="0" u="none" strike="noStrike" dirty="0">
                <a:solidFill>
                  <a:srgbClr val="FF000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P.A.S.S)</a:t>
            </a:r>
            <a:endParaRPr lang="en-US" sz="2400" dirty="0">
              <a:solidFill>
                <a:srgbClr val="FF000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2574FF-7C62-425F-9267-9EA597A5FAE2}"/>
              </a:ext>
            </a:extLst>
          </p:cNvPr>
          <p:cNvGrpSpPr/>
          <p:nvPr/>
        </p:nvGrpSpPr>
        <p:grpSpPr>
          <a:xfrm>
            <a:off x="214604" y="3376222"/>
            <a:ext cx="8714792" cy="631341"/>
            <a:chOff x="214604" y="3376222"/>
            <a:chExt cx="8714792" cy="63134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4133795-005A-4D40-9335-12CCF029B7FD}"/>
                </a:ext>
              </a:extLst>
            </p:cNvPr>
            <p:cNvGrpSpPr/>
            <p:nvPr/>
          </p:nvGrpSpPr>
          <p:grpSpPr>
            <a:xfrm flipV="1">
              <a:off x="5481734" y="3685592"/>
              <a:ext cx="65314" cy="321971"/>
              <a:chOff x="765110" y="1586204"/>
              <a:chExt cx="65314" cy="32197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7F94E95-1896-4ABA-8B98-A1BB7E3E26CC}"/>
                  </a:ext>
                </a:extLst>
              </p:cNvPr>
              <p:cNvSpPr/>
              <p:nvPr/>
            </p:nvSpPr>
            <p:spPr>
              <a:xfrm>
                <a:off x="765110" y="1586204"/>
                <a:ext cx="65314" cy="64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45292EA-D6CF-44A8-A86E-BE91B058E0ED}"/>
                  </a:ext>
                </a:extLst>
              </p:cNvPr>
              <p:cNvCxnSpPr>
                <a:stCxn id="26" idx="4"/>
              </p:cNvCxnSpPr>
              <p:nvPr/>
            </p:nvCxnSpPr>
            <p:spPr>
              <a:xfrm flipH="1">
                <a:off x="793750" y="1650212"/>
                <a:ext cx="4017" cy="257963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23FA27-60EB-48C0-9AD2-175590C0F242}"/>
                </a:ext>
              </a:extLst>
            </p:cNvPr>
            <p:cNvGrpSpPr/>
            <p:nvPr/>
          </p:nvGrpSpPr>
          <p:grpSpPr>
            <a:xfrm flipV="1">
              <a:off x="1724935" y="3685592"/>
              <a:ext cx="65314" cy="321971"/>
              <a:chOff x="765110" y="1586204"/>
              <a:chExt cx="65314" cy="32197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5F12787-FB31-40CA-B60C-C6C7AB3505E6}"/>
                  </a:ext>
                </a:extLst>
              </p:cNvPr>
              <p:cNvSpPr/>
              <p:nvPr/>
            </p:nvSpPr>
            <p:spPr>
              <a:xfrm>
                <a:off x="765110" y="1586204"/>
                <a:ext cx="65314" cy="64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563A6B7-3721-4A99-97BA-DE90E1B8B7EE}"/>
                  </a:ext>
                </a:extLst>
              </p:cNvPr>
              <p:cNvCxnSpPr>
                <a:stCxn id="23" idx="4"/>
              </p:cNvCxnSpPr>
              <p:nvPr/>
            </p:nvCxnSpPr>
            <p:spPr>
              <a:xfrm flipH="1">
                <a:off x="793750" y="1650212"/>
                <a:ext cx="4017" cy="257963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BCBDF33-AFFD-42CC-B17F-182EDC527DEC}"/>
                </a:ext>
              </a:extLst>
            </p:cNvPr>
            <p:cNvGrpSpPr/>
            <p:nvPr/>
          </p:nvGrpSpPr>
          <p:grpSpPr>
            <a:xfrm>
              <a:off x="3599440" y="3376222"/>
              <a:ext cx="65314" cy="321971"/>
              <a:chOff x="765110" y="1586204"/>
              <a:chExt cx="65314" cy="321971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FB40458-8252-41F5-A0B9-DBC7E77B5ACC}"/>
                  </a:ext>
                </a:extLst>
              </p:cNvPr>
              <p:cNvSpPr/>
              <p:nvPr/>
            </p:nvSpPr>
            <p:spPr>
              <a:xfrm>
                <a:off x="765110" y="1586204"/>
                <a:ext cx="65314" cy="64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5D96380-61D2-458D-A266-3691C69FCFE8}"/>
                  </a:ext>
                </a:extLst>
              </p:cNvPr>
              <p:cNvCxnSpPr>
                <a:stCxn id="15" idx="4"/>
              </p:cNvCxnSpPr>
              <p:nvPr/>
            </p:nvCxnSpPr>
            <p:spPr>
              <a:xfrm flipH="1">
                <a:off x="793750" y="1650212"/>
                <a:ext cx="4017" cy="257963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3C98AA4-2DB1-465C-A506-A1C00DC4FF17}"/>
                </a:ext>
              </a:extLst>
            </p:cNvPr>
            <p:cNvCxnSpPr/>
            <p:nvPr/>
          </p:nvCxnSpPr>
          <p:spPr>
            <a:xfrm>
              <a:off x="214604" y="3685592"/>
              <a:ext cx="87147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6CDC2BC-D939-4C50-986D-BBDBEB53088D}"/>
                </a:ext>
              </a:extLst>
            </p:cNvPr>
            <p:cNvSpPr/>
            <p:nvPr/>
          </p:nvSpPr>
          <p:spPr>
            <a:xfrm>
              <a:off x="1660850" y="3592290"/>
              <a:ext cx="182880" cy="186604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rgbClr val="0A0D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A3EC282-7347-4B50-B9B6-41E97CA817F4}"/>
                </a:ext>
              </a:extLst>
            </p:cNvPr>
            <p:cNvSpPr/>
            <p:nvPr/>
          </p:nvSpPr>
          <p:spPr>
            <a:xfrm>
              <a:off x="3540657" y="3592290"/>
              <a:ext cx="182880" cy="186604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rgbClr val="0A0D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A44E1FE-7343-48A1-B943-6C62645E96D3}"/>
                </a:ext>
              </a:extLst>
            </p:cNvPr>
            <p:cNvGrpSpPr/>
            <p:nvPr/>
          </p:nvGrpSpPr>
          <p:grpSpPr>
            <a:xfrm>
              <a:off x="7359674" y="3402133"/>
              <a:ext cx="65314" cy="321971"/>
              <a:chOff x="765110" y="1586204"/>
              <a:chExt cx="65314" cy="321971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FC26503-C66C-49AC-9C46-F03EF5286482}"/>
                  </a:ext>
                </a:extLst>
              </p:cNvPr>
              <p:cNvSpPr/>
              <p:nvPr/>
            </p:nvSpPr>
            <p:spPr>
              <a:xfrm>
                <a:off x="765110" y="1586204"/>
                <a:ext cx="65314" cy="64008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9E1B14-40FA-4002-9A48-741F60280F5A}"/>
                  </a:ext>
                </a:extLst>
              </p:cNvPr>
              <p:cNvCxnSpPr>
                <a:stCxn id="20" idx="4"/>
              </p:cNvCxnSpPr>
              <p:nvPr/>
            </p:nvCxnSpPr>
            <p:spPr>
              <a:xfrm flipH="1">
                <a:off x="793750" y="1650212"/>
                <a:ext cx="4017" cy="257963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ECE31BF-8A58-4FFE-8200-E606E8B12009}"/>
                </a:ext>
              </a:extLst>
            </p:cNvPr>
            <p:cNvSpPr/>
            <p:nvPr/>
          </p:nvSpPr>
          <p:spPr>
            <a:xfrm>
              <a:off x="5420464" y="3598511"/>
              <a:ext cx="182880" cy="186604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rgbClr val="0A0D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7AA2A4F-73EC-4AC6-8621-0EF236A2091E}"/>
                </a:ext>
              </a:extLst>
            </p:cNvPr>
            <p:cNvSpPr/>
            <p:nvPr/>
          </p:nvSpPr>
          <p:spPr>
            <a:xfrm>
              <a:off x="7300270" y="3592290"/>
              <a:ext cx="182880" cy="186604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rgbClr val="0A0D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89A9D1-A067-4688-93D8-D074C17011E4}"/>
              </a:ext>
            </a:extLst>
          </p:cNvPr>
          <p:cNvSpPr/>
          <p:nvPr/>
        </p:nvSpPr>
        <p:spPr>
          <a:xfrm>
            <a:off x="381001" y="3946854"/>
            <a:ext cx="3071326" cy="1539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(Pull)</a:t>
            </a:r>
          </a:p>
          <a:p>
            <a:pPr algn="ctr">
              <a:lnSpc>
                <a:spcPct val="150000"/>
              </a:lnSpc>
            </a:pPr>
            <a:r>
              <a:rPr lang="km-KH" sz="1600" b="1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ដកគន្លឺះ</a:t>
            </a:r>
          </a:p>
          <a:p>
            <a:pPr algn="ctr">
              <a:lnSpc>
                <a:spcPct val="150000"/>
              </a:lnSpc>
            </a:pPr>
            <a:r>
              <a:rPr lang="km-KH" sz="12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ទាញដកគន្លឹះសុវត្ថិភាពចេញពីក្បាលបំពង់</a:t>
            </a:r>
            <a:endParaRPr lang="en-US" sz="12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F384FE-38A6-4BD0-80CB-9A7DCB1281E8}"/>
              </a:ext>
            </a:extLst>
          </p:cNvPr>
          <p:cNvSpPr/>
          <p:nvPr/>
        </p:nvSpPr>
        <p:spPr>
          <a:xfrm>
            <a:off x="3976241" y="3946854"/>
            <a:ext cx="3071326" cy="1539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(</a:t>
            </a:r>
            <a:r>
              <a:rPr lang="en-US" sz="20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Sqeeze</a:t>
            </a:r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km-KH" sz="1600" b="1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ច្របាច់</a:t>
            </a:r>
          </a:p>
          <a:p>
            <a:pPr algn="ctr">
              <a:lnSpc>
                <a:spcPct val="150000"/>
              </a:lnSpc>
            </a:pPr>
            <a:r>
              <a:rPr lang="km-KH" sz="12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ច្របាច់ដងកាន់ ដើម្បីបញ្ចេញសារធាតុពន្លត់</a:t>
            </a:r>
            <a:endParaRPr lang="en-US" sz="12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E4405A2-3497-46B7-ADEC-5F7310A98866}"/>
              </a:ext>
            </a:extLst>
          </p:cNvPr>
          <p:cNvSpPr/>
          <p:nvPr/>
        </p:nvSpPr>
        <p:spPr>
          <a:xfrm>
            <a:off x="2096434" y="1884781"/>
            <a:ext cx="3071326" cy="1539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(Aim)</a:t>
            </a:r>
          </a:p>
          <a:p>
            <a:pPr algn="ctr">
              <a:lnSpc>
                <a:spcPct val="150000"/>
              </a:lnSpc>
            </a:pPr>
            <a:r>
              <a:rPr lang="km-KH" sz="1600" b="1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តម្រង់</a:t>
            </a:r>
          </a:p>
          <a:p>
            <a:pPr algn="ctr">
              <a:lnSpc>
                <a:spcPct val="150000"/>
              </a:lnSpc>
            </a:pPr>
            <a:r>
              <a:rPr lang="km-KH" sz="12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តម្រង់ទុយោបាញ់ទៅកាន់អណ្តាតភ្លើង</a:t>
            </a:r>
            <a:endParaRPr lang="en-US" sz="12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A3D910-B06E-4AD8-A44E-2E0838FF3F68}"/>
              </a:ext>
            </a:extLst>
          </p:cNvPr>
          <p:cNvSpPr/>
          <p:nvPr/>
        </p:nvSpPr>
        <p:spPr>
          <a:xfrm>
            <a:off x="5839251" y="1884781"/>
            <a:ext cx="3071326" cy="1539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(Sweep)</a:t>
            </a:r>
          </a:p>
          <a:p>
            <a:pPr algn="ctr">
              <a:lnSpc>
                <a:spcPct val="150000"/>
              </a:lnSpc>
            </a:pPr>
            <a:r>
              <a:rPr lang="km-KH" sz="1600" b="1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ក្រវី</a:t>
            </a:r>
          </a:p>
          <a:p>
            <a:pPr algn="ctr">
              <a:lnSpc>
                <a:spcPct val="150000"/>
              </a:lnSpc>
            </a:pPr>
            <a:r>
              <a:rPr lang="km-KH" sz="12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បាញ់ក្រវីសងខាង រហូតភ្លើងរលត់</a:t>
            </a:r>
            <a:endParaRPr lang="en-US" sz="12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47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76BF2E-A1C9-4BDE-8296-B88985BE5296}"/>
              </a:ext>
            </a:extLst>
          </p:cNvPr>
          <p:cNvSpPr txBox="1"/>
          <p:nvPr/>
        </p:nvSpPr>
        <p:spPr>
          <a:xfrm>
            <a:off x="2285999" y="268164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km-KH" sz="2800" b="0" dirty="0">
                <a:solidFill>
                  <a:srgbClr val="00B05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ផែនការជម្លៀសខ្លួន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F32425-2A02-470C-8CE9-516A68E0837C}"/>
              </a:ext>
            </a:extLst>
          </p:cNvPr>
          <p:cNvSpPr txBox="1"/>
          <p:nvPr/>
        </p:nvSpPr>
        <p:spPr>
          <a:xfrm>
            <a:off x="1985962" y="3719810"/>
            <a:ext cx="51720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B05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Evacuation Plan</a:t>
            </a:r>
            <a:endParaRPr lang="km-KH" sz="2800" b="0" dirty="0">
              <a:solidFill>
                <a:srgbClr val="00B050"/>
              </a:solidFill>
              <a:effectLst/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br>
              <a:rPr lang="km-KH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98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i="0" u="none" strike="noStrike" dirty="0">
                <a:solidFill>
                  <a:srgbClr val="00B05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ផែនការជម្លៀសខ្លួន </a:t>
            </a:r>
            <a:r>
              <a:rPr lang="km-KH" sz="2400" b="1" i="0" u="none" strike="noStrike" dirty="0">
                <a:solidFill>
                  <a:srgbClr val="00B05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(</a:t>
            </a:r>
            <a:r>
              <a:rPr lang="en-US" sz="2400" b="1" i="0" u="none" strike="noStrike" dirty="0">
                <a:solidFill>
                  <a:srgbClr val="00B05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Evacuation Plan)</a:t>
            </a:r>
            <a:endParaRPr lang="en-US" sz="2400" dirty="0">
              <a:solidFill>
                <a:srgbClr val="00B05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00A911-7AEC-41DE-B044-1A681ABA091F}"/>
              </a:ext>
            </a:extLst>
          </p:cNvPr>
          <p:cNvGrpSpPr/>
          <p:nvPr/>
        </p:nvGrpSpPr>
        <p:grpSpPr>
          <a:xfrm>
            <a:off x="4693298" y="1922106"/>
            <a:ext cx="3947628" cy="3592286"/>
            <a:chOff x="4693298" y="1922106"/>
            <a:chExt cx="3947628" cy="3592286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364B1EC-876A-45D0-B383-71A67670C746}"/>
                </a:ext>
              </a:extLst>
            </p:cNvPr>
            <p:cNvSpPr/>
            <p:nvPr/>
          </p:nvSpPr>
          <p:spPr>
            <a:xfrm>
              <a:off x="4693298" y="1922106"/>
              <a:ext cx="3947628" cy="3592286"/>
            </a:xfrm>
            <a:prstGeom prst="roundRect">
              <a:avLst>
                <a:gd name="adj" fmla="val 2480"/>
              </a:avLst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km-KH" sz="1800" b="1" i="0" u="none" strike="noStrike" dirty="0">
                  <a:solidFill>
                    <a:srgbClr val="00B0F0"/>
                  </a:solidFill>
                  <a:effectLst/>
                  <a:latin typeface="Kantumruy Pro"/>
                </a:rPr>
                <a:t>២. ហាមប្រើជណ្តើរយន្ត</a:t>
              </a:r>
              <a:endParaRPr lang="en-US" sz="1800" b="1" i="0" u="none" strike="noStrike" dirty="0">
                <a:solidFill>
                  <a:srgbClr val="00B0F0"/>
                </a:solidFill>
                <a:effectLst/>
                <a:latin typeface="Kantumruy Pro"/>
              </a:endParaRPr>
            </a:p>
            <a:p>
              <a:pPr algn="ctr">
                <a:lnSpc>
                  <a:spcPct val="150000"/>
                </a:lnSpc>
              </a:pPr>
              <a:endParaRPr lang="en-US" sz="1800" b="1" i="0" u="none" strike="noStrike" dirty="0">
                <a:solidFill>
                  <a:srgbClr val="00B0F0"/>
                </a:solidFill>
                <a:effectLst/>
                <a:latin typeface="Kantumruy Pro"/>
              </a:endParaRPr>
            </a:p>
            <a:p>
              <a:pPr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m-KH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ដាច់ខាតមិនត្រូវប្រើជណ្តើរយន្តពេលមានអគ្គីភ័យ ព្រោះប្រព័ន្ធភ្លើងអាចនឹងដាច់រាល់ពេល ដែលធ្វើឱ្យអ្នកជាប់គាំងក្នុងនោះ។ ត្រូវប្រើជណ្តើរជើង (</a:t>
              </a:r>
              <a:r>
                <a:rPr lang="en-US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Stairs) </a:t>
              </a:r>
              <a:r>
                <a:rPr lang="km-KH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ជានិច្ច។</a:t>
              </a:r>
              <a:endParaRPr lang="km-KH" b="0" dirty="0"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C72C22B-8878-431F-9F33-3D55D50495CC}"/>
                </a:ext>
              </a:extLst>
            </p:cNvPr>
            <p:cNvCxnSpPr>
              <a:cxnSpLocks/>
            </p:cNvCxnSpPr>
            <p:nvPr/>
          </p:nvCxnSpPr>
          <p:spPr>
            <a:xfrm>
              <a:off x="4870580" y="2677886"/>
              <a:ext cx="3536302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AA9853-AD27-45AE-8D20-76B4657B6F52}"/>
              </a:ext>
            </a:extLst>
          </p:cNvPr>
          <p:cNvGrpSpPr/>
          <p:nvPr/>
        </p:nvGrpSpPr>
        <p:grpSpPr>
          <a:xfrm>
            <a:off x="255037" y="1922106"/>
            <a:ext cx="3947628" cy="3592286"/>
            <a:chOff x="4693298" y="1922106"/>
            <a:chExt cx="3947628" cy="359228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424D442-9430-4151-B9B1-D0DD012A457C}"/>
                </a:ext>
              </a:extLst>
            </p:cNvPr>
            <p:cNvSpPr/>
            <p:nvPr/>
          </p:nvSpPr>
          <p:spPr>
            <a:xfrm>
              <a:off x="4693298" y="1922106"/>
              <a:ext cx="3947628" cy="3592286"/>
            </a:xfrm>
            <a:prstGeom prst="roundRect">
              <a:avLst>
                <a:gd name="adj" fmla="val 2480"/>
              </a:avLst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km-KH" sz="1800" b="1" i="0" u="none" strike="noStrike" dirty="0">
                  <a:solidFill>
                    <a:srgbClr val="FFC000"/>
                  </a:solidFill>
                  <a:effectLst/>
                  <a:latin typeface="Kantumruy Pro"/>
                </a:rPr>
                <a:t>១. រក្សាសតិស្មារតីជានិច្ច</a:t>
              </a:r>
              <a:endParaRPr lang="en-US" sz="1800" b="1" i="0" u="none" strike="noStrike" dirty="0">
                <a:solidFill>
                  <a:srgbClr val="FFC000"/>
                </a:solidFill>
                <a:effectLst/>
                <a:latin typeface="Kantumruy Pro"/>
              </a:endParaRPr>
            </a:p>
            <a:p>
              <a:pPr algn="ctr">
                <a:lnSpc>
                  <a:spcPct val="150000"/>
                </a:lnSpc>
              </a:pPr>
              <a:endParaRPr lang="en-US" sz="1800" b="1" i="0" u="none" strike="noStrike" dirty="0">
                <a:solidFill>
                  <a:srgbClr val="00B0F0"/>
                </a:solidFill>
                <a:effectLst/>
                <a:latin typeface="Kantumruy Pro"/>
              </a:endParaRPr>
            </a:p>
            <a:p>
              <a:pPr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m-KH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ដាច់ខាតមិនត្រូវប្រើជណ្តើរយន្តពេលមានអគ្គីភ័យ ព្រោះប្រព័ន្ធភ្លើងអាចនឹងដាច់រាល់ពេល ដែលធ្វើឱ្យអ្នកជាប់គាំងក្នុងនោះ។ ត្រូវប្រើជណ្តើរជើង (</a:t>
              </a:r>
              <a:r>
                <a:rPr lang="en-US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Stairs) </a:t>
              </a:r>
              <a:r>
                <a:rPr lang="km-KH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ជានិច្ច។</a:t>
              </a:r>
              <a:endParaRPr lang="km-KH" b="0" dirty="0"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632310-1DDB-4AF6-BE42-6B3129921859}"/>
                </a:ext>
              </a:extLst>
            </p:cNvPr>
            <p:cNvCxnSpPr>
              <a:cxnSpLocks/>
            </p:cNvCxnSpPr>
            <p:nvPr/>
          </p:nvCxnSpPr>
          <p:spPr>
            <a:xfrm>
              <a:off x="4870580" y="2677886"/>
              <a:ext cx="3536302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0846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i="0" u="none" strike="noStrike" dirty="0">
                <a:solidFill>
                  <a:srgbClr val="00B05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ការគេចចេញពីផ្សែងហុយ</a:t>
            </a:r>
            <a:endParaRPr lang="en-US" sz="2400" dirty="0">
              <a:solidFill>
                <a:srgbClr val="00B05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428AB-9F46-4966-98E2-10F0A8A832F7}"/>
              </a:ext>
            </a:extLst>
          </p:cNvPr>
          <p:cNvSpPr txBox="1"/>
          <p:nvPr/>
        </p:nvSpPr>
        <p:spPr>
          <a:xfrm>
            <a:off x="209550" y="1005959"/>
            <a:ext cx="855345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ផ្សែងពុលគឺជាមូលហេតុចម្បងដែលសម្លាប់មនុស្ស មិនមែនអណ្តាតភ្លើងនោះទេ។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ផ្សែងនិងកម្តៅតែងតែហុយបក់ឡើងទៅលើជានិច្ច ដូច្នេះខ្យល់បរិសុទ្ធគឺនៅផ្នែកខាងក្រោម។</a:t>
            </a:r>
            <a:endParaRPr lang="km-KH" sz="2000" dirty="0">
              <a:solidFill>
                <a:srgbClr val="D1D5DB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ត្រូវក្រាប ឬវារឱ្យទាបបំផុត ដើម្បីគេចពីការស្រូបយកផ្សែងពុលក្នុងពេលរត់គេច។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20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ប្រសិនបើអាច យកកន្សែង ឬក្រណាត់ជ្រលក់ទឹកឱ្យសើម មកខ្ទប់ច្រមុះនិងមាត់ ដើម្បីសម្រួលការដកដង្ហើម។</a:t>
            </a:r>
            <a:endParaRPr lang="en-US" sz="20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589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i="0" u="none" strike="noStrike" dirty="0">
                <a:solidFill>
                  <a:srgbClr val="00B05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ប្រសិនបើជាប់ក្នុងបន្ទប់</a:t>
            </a:r>
            <a:endParaRPr lang="en-US" sz="2400" dirty="0">
              <a:solidFill>
                <a:srgbClr val="00B05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428AB-9F46-4966-98E2-10F0A8A832F7}"/>
              </a:ext>
            </a:extLst>
          </p:cNvPr>
          <p:cNvSpPr txBox="1"/>
          <p:nvPr/>
        </p:nvSpPr>
        <p:spPr>
          <a:xfrm>
            <a:off x="209550" y="1005959"/>
            <a:ext cx="855345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m-KH" sz="2400" b="0" i="0" u="none" strike="noStrike" dirty="0">
                <a:solidFill>
                  <a:srgbClr val="D1D5DB"/>
                </a:solidFill>
                <a:effectLst/>
                <a:latin typeface="Khmer OS Battambang" panose="02000500000000020004" pitchFamily="2" charset="0"/>
                <a:cs typeface="Khmer OS Battambang" panose="02000500000000020004" pitchFamily="2" charset="0"/>
              </a:rPr>
              <a:t>បើមិនអាចចេញក្រៅបាន ត្រូវបិទទ្វារឱ្យជិត។ យកក្រណាត់សើមរាំងគ្រប់ប្រហោងទ្វារកុំឱ្យផ្សែងចូល។ ទៅក្បែរបង្អួច បក់ក្រណាត់ពណ៌សហៅគេឱ្យជួយ និងទូរស័ព្ទប្រាប់ទីតាំងរបស់អ្នក។ កុំលោតពីលើអគារខ្ពស់ដាច់ខាត។</a:t>
            </a:r>
            <a:endParaRPr lang="en-US" sz="24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73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60B621-D44F-4D98-AE9A-04C7EC029413}"/>
              </a:ext>
            </a:extLst>
          </p:cNvPr>
          <p:cNvSpPr/>
          <p:nvPr/>
        </p:nvSpPr>
        <p:spPr>
          <a:xfrm>
            <a:off x="381000" y="160020"/>
            <a:ext cx="8260080" cy="914400"/>
          </a:xfrm>
          <a:prstGeom prst="roundRect">
            <a:avLst>
              <a:gd name="adj" fmla="val 5000"/>
            </a:avLst>
          </a:prstGeom>
          <a:solidFill>
            <a:srgbClr val="0A0D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m-KH" sz="2400" i="0" u="none" strike="noStrike" dirty="0">
                <a:solidFill>
                  <a:srgbClr val="00B050"/>
                </a:solidFill>
                <a:effectLst/>
                <a:latin typeface="Khmer OS Muol Light" panose="02000500000000020004" pitchFamily="2" charset="0"/>
                <a:cs typeface="Khmer OS Muol Light" panose="02000500000000020004" pitchFamily="2" charset="0"/>
              </a:rPr>
              <a:t>ការត្រួតពិនិត្យទ្វារមុននឹងបើក</a:t>
            </a:r>
            <a:endParaRPr lang="en-US" sz="2400" dirty="0">
              <a:solidFill>
                <a:srgbClr val="00B05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267EB3-2013-4AAC-9757-B32329935B56}"/>
              </a:ext>
            </a:extLst>
          </p:cNvPr>
          <p:cNvGrpSpPr/>
          <p:nvPr/>
        </p:nvGrpSpPr>
        <p:grpSpPr>
          <a:xfrm>
            <a:off x="381000" y="1074420"/>
            <a:ext cx="8444980" cy="815340"/>
            <a:chOff x="502920" y="1074420"/>
            <a:chExt cx="8138160" cy="81534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E843F74-34D0-4BDF-AE85-719445327E6E}"/>
                </a:ext>
              </a:extLst>
            </p:cNvPr>
            <p:cNvSpPr/>
            <p:nvPr/>
          </p:nvSpPr>
          <p:spPr>
            <a:xfrm>
              <a:off x="502920" y="1074420"/>
              <a:ext cx="8138160" cy="815340"/>
            </a:xfrm>
            <a:prstGeom prst="roundRect">
              <a:avLst>
                <a:gd name="adj" fmla="val 4517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90563"/>
              <a:r>
                <a:rPr lang="km-KH" sz="16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ស្ទាបទ្វារជាមុន</a:t>
              </a:r>
              <a:r>
                <a:rPr lang="km-KH" sz="16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 មុននឹងបើកទ្វារចេញក្រៅ ត្រូវប្រើខ្នងដៃរបស់អ្នកស្ទាបគន្លឹះទ្វារ ឬសន្លឹកទ្វារ។</a:t>
              </a:r>
              <a:endParaRPr lang="en-US" sz="1600" dirty="0"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A80FC71-2A1C-46CB-9458-C613F35135CF}"/>
                </a:ext>
              </a:extLst>
            </p:cNvPr>
            <p:cNvSpPr/>
            <p:nvPr/>
          </p:nvSpPr>
          <p:spPr>
            <a:xfrm>
              <a:off x="502920" y="1074420"/>
              <a:ext cx="38100" cy="815340"/>
            </a:xfrm>
            <a:custGeom>
              <a:avLst/>
              <a:gdLst>
                <a:gd name="connsiteX0" fmla="*/ 36829 w 38100"/>
                <a:gd name="connsiteY0" fmla="*/ 0 h 815340"/>
                <a:gd name="connsiteX1" fmla="*/ 38100 w 38100"/>
                <a:gd name="connsiteY1" fmla="*/ 0 h 815340"/>
                <a:gd name="connsiteX2" fmla="*/ 38100 w 38100"/>
                <a:gd name="connsiteY2" fmla="*/ 815340 h 815340"/>
                <a:gd name="connsiteX3" fmla="*/ 36829 w 38100"/>
                <a:gd name="connsiteY3" fmla="*/ 815340 h 815340"/>
                <a:gd name="connsiteX4" fmla="*/ 0 w 38100"/>
                <a:gd name="connsiteY4" fmla="*/ 778511 h 815340"/>
                <a:gd name="connsiteX5" fmla="*/ 0 w 38100"/>
                <a:gd name="connsiteY5" fmla="*/ 36829 h 815340"/>
                <a:gd name="connsiteX6" fmla="*/ 36829 w 38100"/>
                <a:gd name="connsiteY6" fmla="*/ 0 h 8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815340">
                  <a:moveTo>
                    <a:pt x="36829" y="0"/>
                  </a:moveTo>
                  <a:lnTo>
                    <a:pt x="38100" y="0"/>
                  </a:lnTo>
                  <a:lnTo>
                    <a:pt x="38100" y="815340"/>
                  </a:lnTo>
                  <a:lnTo>
                    <a:pt x="36829" y="815340"/>
                  </a:lnTo>
                  <a:cubicBezTo>
                    <a:pt x="16489" y="815340"/>
                    <a:pt x="0" y="798851"/>
                    <a:pt x="0" y="778511"/>
                  </a:cubicBezTo>
                  <a:lnTo>
                    <a:pt x="0" y="36829"/>
                  </a:lnTo>
                  <a:cubicBezTo>
                    <a:pt x="0" y="16489"/>
                    <a:pt x="16489" y="0"/>
                    <a:pt x="3682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E14EC-764B-4F30-8957-EBE42AD4606F}"/>
              </a:ext>
            </a:extLst>
          </p:cNvPr>
          <p:cNvGrpSpPr/>
          <p:nvPr/>
        </p:nvGrpSpPr>
        <p:grpSpPr>
          <a:xfrm>
            <a:off x="380999" y="2268220"/>
            <a:ext cx="8444981" cy="815340"/>
            <a:chOff x="502920" y="1074420"/>
            <a:chExt cx="8138160" cy="81534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07588DC-1B9F-46B5-B58F-ED30BEE850F0}"/>
                </a:ext>
              </a:extLst>
            </p:cNvPr>
            <p:cNvSpPr/>
            <p:nvPr/>
          </p:nvSpPr>
          <p:spPr>
            <a:xfrm>
              <a:off x="502920" y="1074420"/>
              <a:ext cx="8138160" cy="815340"/>
            </a:xfrm>
            <a:prstGeom prst="roundRect">
              <a:avLst>
                <a:gd name="adj" fmla="val 4517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90563"/>
              <a:r>
                <a:rPr lang="km-KH" sz="16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កុំបើកបើទ្វារក្តៅ</a:t>
              </a:r>
              <a:r>
                <a:rPr lang="km-KH" sz="1600" b="0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 </a:t>
              </a:r>
              <a:r>
                <a:rPr lang="km-KH" sz="16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ប្រសិនបើទ្វារមានកម្តៅក្តៅខ្លាំង មានន័យថាភ្លើងកំពុងឆេះនៅខាងក្រៅ កុំបើកទ្វារនោះឱ្យសោះ។</a:t>
              </a:r>
              <a:endParaRPr lang="en-US" sz="1600" b="1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9DCAA1-4222-43C6-B60F-43F2864093AF}"/>
                </a:ext>
              </a:extLst>
            </p:cNvPr>
            <p:cNvSpPr/>
            <p:nvPr/>
          </p:nvSpPr>
          <p:spPr>
            <a:xfrm>
              <a:off x="502920" y="1074420"/>
              <a:ext cx="38100" cy="815340"/>
            </a:xfrm>
            <a:custGeom>
              <a:avLst/>
              <a:gdLst>
                <a:gd name="connsiteX0" fmla="*/ 36829 w 38100"/>
                <a:gd name="connsiteY0" fmla="*/ 0 h 815340"/>
                <a:gd name="connsiteX1" fmla="*/ 38100 w 38100"/>
                <a:gd name="connsiteY1" fmla="*/ 0 h 815340"/>
                <a:gd name="connsiteX2" fmla="*/ 38100 w 38100"/>
                <a:gd name="connsiteY2" fmla="*/ 815340 h 815340"/>
                <a:gd name="connsiteX3" fmla="*/ 36829 w 38100"/>
                <a:gd name="connsiteY3" fmla="*/ 815340 h 815340"/>
                <a:gd name="connsiteX4" fmla="*/ 0 w 38100"/>
                <a:gd name="connsiteY4" fmla="*/ 778511 h 815340"/>
                <a:gd name="connsiteX5" fmla="*/ 0 w 38100"/>
                <a:gd name="connsiteY5" fmla="*/ 36829 h 815340"/>
                <a:gd name="connsiteX6" fmla="*/ 36829 w 38100"/>
                <a:gd name="connsiteY6" fmla="*/ 0 h 8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815340">
                  <a:moveTo>
                    <a:pt x="36829" y="0"/>
                  </a:moveTo>
                  <a:lnTo>
                    <a:pt x="38100" y="0"/>
                  </a:lnTo>
                  <a:lnTo>
                    <a:pt x="38100" y="815340"/>
                  </a:lnTo>
                  <a:lnTo>
                    <a:pt x="36829" y="815340"/>
                  </a:lnTo>
                  <a:cubicBezTo>
                    <a:pt x="16489" y="815340"/>
                    <a:pt x="0" y="798851"/>
                    <a:pt x="0" y="778511"/>
                  </a:cubicBezTo>
                  <a:lnTo>
                    <a:pt x="0" y="36829"/>
                  </a:lnTo>
                  <a:cubicBezTo>
                    <a:pt x="0" y="16489"/>
                    <a:pt x="16489" y="0"/>
                    <a:pt x="3682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983D10-5494-4062-8F1C-38D78B6D6015}"/>
              </a:ext>
            </a:extLst>
          </p:cNvPr>
          <p:cNvGrpSpPr/>
          <p:nvPr/>
        </p:nvGrpSpPr>
        <p:grpSpPr>
          <a:xfrm>
            <a:off x="381000" y="3462020"/>
            <a:ext cx="8444982" cy="815340"/>
            <a:chOff x="502920" y="1074420"/>
            <a:chExt cx="8138160" cy="81534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7B01091-0F3C-49DF-912E-9444FAFF7787}"/>
                </a:ext>
              </a:extLst>
            </p:cNvPr>
            <p:cNvSpPr/>
            <p:nvPr/>
          </p:nvSpPr>
          <p:spPr>
            <a:xfrm>
              <a:off x="502920" y="1074420"/>
              <a:ext cx="8138160" cy="815340"/>
            </a:xfrm>
            <a:prstGeom prst="roundRect">
              <a:avLst>
                <a:gd name="adj" fmla="val 4517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90563"/>
              <a:r>
                <a:rPr lang="km-KH" sz="16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បើកដោយប្រុងប្រយ័ត្ន</a:t>
              </a:r>
              <a:r>
                <a:rPr lang="km-KH" sz="1600" b="0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 </a:t>
              </a:r>
              <a:r>
                <a:rPr lang="km-KH" sz="16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ប្រសិនបើទ្វារត្រជាក់ អាចបើកបន្តិចដោយប្រុងប្រយ័ត្ន។ បើមានផ្សែងហុយចូល ត្រូវបិទវិញភ្លាម។</a:t>
              </a:r>
              <a:endParaRPr lang="en-US" sz="1600" dirty="0"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0A0313E-3AFB-4B60-ADC8-67CAFF4FE855}"/>
                </a:ext>
              </a:extLst>
            </p:cNvPr>
            <p:cNvSpPr/>
            <p:nvPr/>
          </p:nvSpPr>
          <p:spPr>
            <a:xfrm>
              <a:off x="502920" y="1074420"/>
              <a:ext cx="38100" cy="815340"/>
            </a:xfrm>
            <a:custGeom>
              <a:avLst/>
              <a:gdLst>
                <a:gd name="connsiteX0" fmla="*/ 36829 w 38100"/>
                <a:gd name="connsiteY0" fmla="*/ 0 h 815340"/>
                <a:gd name="connsiteX1" fmla="*/ 38100 w 38100"/>
                <a:gd name="connsiteY1" fmla="*/ 0 h 815340"/>
                <a:gd name="connsiteX2" fmla="*/ 38100 w 38100"/>
                <a:gd name="connsiteY2" fmla="*/ 815340 h 815340"/>
                <a:gd name="connsiteX3" fmla="*/ 36829 w 38100"/>
                <a:gd name="connsiteY3" fmla="*/ 815340 h 815340"/>
                <a:gd name="connsiteX4" fmla="*/ 0 w 38100"/>
                <a:gd name="connsiteY4" fmla="*/ 778511 h 815340"/>
                <a:gd name="connsiteX5" fmla="*/ 0 w 38100"/>
                <a:gd name="connsiteY5" fmla="*/ 36829 h 815340"/>
                <a:gd name="connsiteX6" fmla="*/ 36829 w 38100"/>
                <a:gd name="connsiteY6" fmla="*/ 0 h 8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815340">
                  <a:moveTo>
                    <a:pt x="36829" y="0"/>
                  </a:moveTo>
                  <a:lnTo>
                    <a:pt x="38100" y="0"/>
                  </a:lnTo>
                  <a:lnTo>
                    <a:pt x="38100" y="815340"/>
                  </a:lnTo>
                  <a:lnTo>
                    <a:pt x="36829" y="815340"/>
                  </a:lnTo>
                  <a:cubicBezTo>
                    <a:pt x="16489" y="815340"/>
                    <a:pt x="0" y="798851"/>
                    <a:pt x="0" y="778511"/>
                  </a:cubicBezTo>
                  <a:lnTo>
                    <a:pt x="0" y="36829"/>
                  </a:lnTo>
                  <a:cubicBezTo>
                    <a:pt x="0" y="16489"/>
                    <a:pt x="16489" y="0"/>
                    <a:pt x="3682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FCC05C-893B-47C1-BF4D-3A468B6ABBAA}"/>
              </a:ext>
            </a:extLst>
          </p:cNvPr>
          <p:cNvGrpSpPr/>
          <p:nvPr/>
        </p:nvGrpSpPr>
        <p:grpSpPr>
          <a:xfrm>
            <a:off x="381000" y="4655820"/>
            <a:ext cx="8444982" cy="815340"/>
            <a:chOff x="502920" y="1074420"/>
            <a:chExt cx="8138160" cy="81534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FD5548C-E4D7-43EA-9087-C108835F1B24}"/>
                </a:ext>
              </a:extLst>
            </p:cNvPr>
            <p:cNvSpPr/>
            <p:nvPr/>
          </p:nvSpPr>
          <p:spPr>
            <a:xfrm>
              <a:off x="502920" y="1074420"/>
              <a:ext cx="8138160" cy="815340"/>
            </a:xfrm>
            <a:prstGeom prst="roundRect">
              <a:avLst>
                <a:gd name="adj" fmla="val 4517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90563"/>
              <a:r>
                <a:rPr lang="km-KH" sz="1600" b="1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ខ្យល់អាចជាបញ្ហា</a:t>
              </a:r>
              <a:r>
                <a:rPr lang="km-KH" sz="1600" b="0" i="0" u="none" strike="noStrike" dirty="0">
                  <a:solidFill>
                    <a:srgbClr val="00B0F0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 </a:t>
              </a:r>
              <a:r>
                <a:rPr lang="km-KH" sz="1600" b="0" i="0" u="none" strike="noStrike" dirty="0">
                  <a:solidFill>
                    <a:srgbClr val="D1D5DB"/>
                  </a:solidFill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ការបើកទ្វារអាចបញ្ចេញអុកស៊ីហ្សែនទៅឱ្យភ្លើង ធ្វើឱ្យវាឆាបឆេះកាន់តែខ្លាំងរហ័ស។</a:t>
              </a:r>
              <a:r>
                <a:rPr lang="en-US" sz="1600" b="0" dirty="0">
                  <a:effectLst/>
                  <a:latin typeface="Khmer OS Battambang" panose="02000500000000020004" pitchFamily="2" charset="0"/>
                  <a:cs typeface="Khmer OS Battambang" panose="02000500000000020004" pitchFamily="2" charset="0"/>
                </a:rPr>
                <a:t> </a:t>
              </a:r>
              <a:endParaRPr lang="en-US" sz="1600" dirty="0">
                <a:latin typeface="Khmer OS Battambang" panose="02000500000000020004" pitchFamily="2" charset="0"/>
                <a:cs typeface="Khmer OS Battambang" panose="02000500000000020004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16714CC-2AC9-4FD9-B53C-0EBD8B82DC45}"/>
                </a:ext>
              </a:extLst>
            </p:cNvPr>
            <p:cNvSpPr/>
            <p:nvPr/>
          </p:nvSpPr>
          <p:spPr>
            <a:xfrm>
              <a:off x="502920" y="1074420"/>
              <a:ext cx="38100" cy="815340"/>
            </a:xfrm>
            <a:custGeom>
              <a:avLst/>
              <a:gdLst>
                <a:gd name="connsiteX0" fmla="*/ 36829 w 38100"/>
                <a:gd name="connsiteY0" fmla="*/ 0 h 815340"/>
                <a:gd name="connsiteX1" fmla="*/ 38100 w 38100"/>
                <a:gd name="connsiteY1" fmla="*/ 0 h 815340"/>
                <a:gd name="connsiteX2" fmla="*/ 38100 w 38100"/>
                <a:gd name="connsiteY2" fmla="*/ 815340 h 815340"/>
                <a:gd name="connsiteX3" fmla="*/ 36829 w 38100"/>
                <a:gd name="connsiteY3" fmla="*/ 815340 h 815340"/>
                <a:gd name="connsiteX4" fmla="*/ 0 w 38100"/>
                <a:gd name="connsiteY4" fmla="*/ 778511 h 815340"/>
                <a:gd name="connsiteX5" fmla="*/ 0 w 38100"/>
                <a:gd name="connsiteY5" fmla="*/ 36829 h 815340"/>
                <a:gd name="connsiteX6" fmla="*/ 36829 w 38100"/>
                <a:gd name="connsiteY6" fmla="*/ 0 h 81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815340">
                  <a:moveTo>
                    <a:pt x="36829" y="0"/>
                  </a:moveTo>
                  <a:lnTo>
                    <a:pt x="38100" y="0"/>
                  </a:lnTo>
                  <a:lnTo>
                    <a:pt x="38100" y="815340"/>
                  </a:lnTo>
                  <a:lnTo>
                    <a:pt x="36829" y="815340"/>
                  </a:lnTo>
                  <a:cubicBezTo>
                    <a:pt x="16489" y="815340"/>
                    <a:pt x="0" y="798851"/>
                    <a:pt x="0" y="778511"/>
                  </a:cubicBezTo>
                  <a:lnTo>
                    <a:pt x="0" y="36829"/>
                  </a:lnTo>
                  <a:cubicBezTo>
                    <a:pt x="0" y="16489"/>
                    <a:pt x="16489" y="0"/>
                    <a:pt x="3682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9790F2-6537-4939-96EB-3484D96DC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0" y="1320165"/>
            <a:ext cx="3048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3D15BAB-5288-4AD7-B49F-12BC57F8A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0" y="2513965"/>
            <a:ext cx="2667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85659F3-6086-4700-817F-B0EEFF816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0" y="3705861"/>
            <a:ext cx="3429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AF01636A-3CE3-44DE-9798-D1BE2A933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0" y="4902202"/>
            <a:ext cx="3048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377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1758</TotalTime>
  <Words>1401</Words>
  <Application>Microsoft Office PowerPoint</Application>
  <PresentationFormat>On-screen Show (4:3)</PresentationFormat>
  <Paragraphs>105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Battambang</vt:lpstr>
      <vt:lpstr>Bookman Old Style</vt:lpstr>
      <vt:lpstr>Calibri</vt:lpstr>
      <vt:lpstr>Kantumruy Pro</vt:lpstr>
      <vt:lpstr>Khmer OS Battambang</vt:lpstr>
      <vt:lpstr>Khmer OS Muol Light</vt:lpstr>
      <vt:lpstr>Rockwell</vt:lpstr>
      <vt:lpstr>Times New Roman</vt:lpstr>
      <vt:lpstr>Wingdings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Panha Phy</dc:creator>
  <cp:lastModifiedBy>Panha Phy</cp:lastModifiedBy>
  <cp:revision>11</cp:revision>
  <dcterms:created xsi:type="dcterms:W3CDTF">2026-08-27T07:50:43Z</dcterms:created>
  <dcterms:modified xsi:type="dcterms:W3CDTF">2026-08-30T05:07:06Z</dcterms:modified>
</cp:coreProperties>
</file>